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Josefin Sans" pitchFamily="2" charset="0"/>
      <p:regular r:id="rId18"/>
    </p:embeddedFont>
    <p:embeddedFont>
      <p:font typeface="Josefin Sans Bold" pitchFamily="2" charset="0"/>
      <p:regular r:id="rId19"/>
      <p:boldItalic r:id="rId20"/>
    </p:embeddedFont>
    <p:embeddedFont>
      <p:font typeface="Times New Roman Bold" panose="02020803070505020304" pitchFamily="18" charset="0"/>
      <p:regular r:id="rId21"/>
      <p:bold r:id="rId22"/>
    </p:embeddedFont>
    <p:embeddedFont>
      <p:font typeface="เอฟซี แคนดี้" panose="020B0604020202020204" charset="-3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60" y="107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 Id="rId9" Type="http://schemas.openxmlformats.org/officeDocument/2006/relationships/image" Target="../media/image6.svg"/></Relationships>
</file>

<file path=ppt/slides/_rels/slide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3.png"/><Relationship Id="rId5" Type="http://schemas.openxmlformats.org/officeDocument/2006/relationships/image" Target="../media/image24.svg"/><Relationship Id="rId10" Type="http://schemas.openxmlformats.org/officeDocument/2006/relationships/image" Target="../media/image32.png"/><Relationship Id="rId4" Type="http://schemas.openxmlformats.org/officeDocument/2006/relationships/image" Target="../media/image23.png"/><Relationship Id="rId9" Type="http://schemas.openxmlformats.org/officeDocument/2006/relationships/image" Target="../media/image6.svg"/></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svg"/><Relationship Id="rId10" Type="http://schemas.openxmlformats.org/officeDocument/2006/relationships/image" Target="../media/image34.png"/><Relationship Id="rId4" Type="http://schemas.openxmlformats.org/officeDocument/2006/relationships/image" Target="../media/image23.png"/><Relationship Id="rId9" Type="http://schemas.openxmlformats.org/officeDocument/2006/relationships/image" Target="../media/image6.svg"/></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svg"/><Relationship Id="rId10" Type="http://schemas.openxmlformats.org/officeDocument/2006/relationships/image" Target="../media/image35.png"/><Relationship Id="rId4" Type="http://schemas.openxmlformats.org/officeDocument/2006/relationships/image" Target="../media/image23.png"/><Relationship Id="rId9" Type="http://schemas.openxmlformats.org/officeDocument/2006/relationships/image" Target="../media/image6.svg"/></Relationships>
</file>

<file path=ppt/slides/_rels/slide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svg"/><Relationship Id="rId10" Type="http://schemas.openxmlformats.org/officeDocument/2006/relationships/image" Target="../media/image36.png"/><Relationship Id="rId4" Type="http://schemas.openxmlformats.org/officeDocument/2006/relationships/image" Target="../media/image23.png"/><Relationship Id="rId9" Type="http://schemas.openxmlformats.org/officeDocument/2006/relationships/image" Target="../media/image6.svg"/></Relationships>
</file>

<file path=ppt/slides/_rels/slide1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svg"/><Relationship Id="rId10" Type="http://schemas.openxmlformats.org/officeDocument/2006/relationships/image" Target="../media/image37.png"/><Relationship Id="rId4" Type="http://schemas.openxmlformats.org/officeDocument/2006/relationships/image" Target="../media/image23.png"/><Relationship Id="rId9" Type="http://schemas.openxmlformats.org/officeDocument/2006/relationships/image" Target="../media/image6.svg"/></Relationships>
</file>

<file path=ppt/slides/_rels/slide1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svg"/><Relationship Id="rId10" Type="http://schemas.openxmlformats.org/officeDocument/2006/relationships/image" Target="../media/image38.png"/><Relationship Id="rId4" Type="http://schemas.openxmlformats.org/officeDocument/2006/relationships/image" Target="../media/image23.png"/><Relationship Id="rId9" Type="http://schemas.openxmlformats.org/officeDocument/2006/relationships/image" Target="../media/image6.svg"/></Relationships>
</file>

<file path=ppt/slides/_rels/slide15.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7.xml"/><Relationship Id="rId5" Type="http://schemas.openxmlformats.org/officeDocument/2006/relationships/image" Target="../media/image44.sv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2" name="TextBox 2"/>
          <p:cNvSpPr txBox="1"/>
          <p:nvPr/>
        </p:nvSpPr>
        <p:spPr>
          <a:xfrm>
            <a:off x="7532179" y="1336363"/>
            <a:ext cx="9942767" cy="5776180"/>
          </a:xfrm>
          <a:prstGeom prst="rect">
            <a:avLst/>
          </a:prstGeom>
        </p:spPr>
        <p:txBody>
          <a:bodyPr lIns="0" tIns="0" rIns="0" bIns="0" rtlCol="0" anchor="t">
            <a:spAutoFit/>
          </a:bodyPr>
          <a:lstStyle/>
          <a:p>
            <a:pPr algn="ctr">
              <a:lnSpc>
                <a:spcPts val="9054"/>
              </a:lnSpc>
            </a:pPr>
            <a:r>
              <a:rPr lang="en-US" sz="4975" spc="388">
                <a:solidFill>
                  <a:srgbClr val="F7B4A7"/>
                </a:solidFill>
                <a:latin typeface="Josefin Sans Bold"/>
              </a:rPr>
              <a:t>BÁO CÁO PROJECT</a:t>
            </a:r>
          </a:p>
          <a:p>
            <a:pPr algn="ctr">
              <a:lnSpc>
                <a:spcPts val="9054"/>
              </a:lnSpc>
            </a:pPr>
            <a:r>
              <a:rPr lang="en-US" sz="4975" spc="388">
                <a:solidFill>
                  <a:srgbClr val="F7B4A7"/>
                </a:solidFill>
                <a:latin typeface="Josefin Sans Bold"/>
              </a:rPr>
              <a:t>LẬP TRÌNH PYTHON 2</a:t>
            </a:r>
          </a:p>
          <a:p>
            <a:pPr algn="ctr">
              <a:lnSpc>
                <a:spcPts val="9054"/>
              </a:lnSpc>
            </a:pPr>
            <a:r>
              <a:rPr lang="en-US" sz="4975" spc="388">
                <a:solidFill>
                  <a:srgbClr val="F7B4A7"/>
                </a:solidFill>
                <a:latin typeface="Josefin Sans Bold"/>
              </a:rPr>
              <a:t>CHUYÊN NGÀNH: CÔNG NGHỆ PHẦN MỀM</a:t>
            </a:r>
          </a:p>
          <a:p>
            <a:pPr>
              <a:lnSpc>
                <a:spcPts val="8372"/>
              </a:lnSpc>
            </a:pPr>
            <a:endParaRPr lang="en-US" sz="4975" spc="388">
              <a:solidFill>
                <a:srgbClr val="F7B4A7"/>
              </a:solidFill>
              <a:latin typeface="Josefin Sans Bold"/>
            </a:endParaRPr>
          </a:p>
        </p:txBody>
      </p:sp>
      <p:sp>
        <p:nvSpPr>
          <p:cNvPr id="3" name="Freeform 3"/>
          <p:cNvSpPr/>
          <p:nvPr/>
        </p:nvSpPr>
        <p:spPr>
          <a:xfrm>
            <a:off x="1182834" y="-1921745"/>
            <a:ext cx="6755642" cy="4114800"/>
          </a:xfrm>
          <a:custGeom>
            <a:avLst/>
            <a:gdLst/>
            <a:ahLst/>
            <a:cxnLst/>
            <a:rect l="l" t="t" r="r" b="b"/>
            <a:pathLst>
              <a:path w="6755642" h="4114800">
                <a:moveTo>
                  <a:pt x="0" y="0"/>
                </a:moveTo>
                <a:lnTo>
                  <a:pt x="6755642" y="0"/>
                </a:lnTo>
                <a:lnTo>
                  <a:pt x="675564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6303834" y="1790711"/>
            <a:ext cx="1194327" cy="2586142"/>
          </a:xfrm>
          <a:custGeom>
            <a:avLst/>
            <a:gdLst/>
            <a:ahLst/>
            <a:cxnLst/>
            <a:rect l="l" t="t" r="r" b="b"/>
            <a:pathLst>
              <a:path w="1194327" h="2586142">
                <a:moveTo>
                  <a:pt x="0" y="0"/>
                </a:moveTo>
                <a:lnTo>
                  <a:pt x="1194327" y="0"/>
                </a:lnTo>
                <a:lnTo>
                  <a:pt x="1194327" y="2586142"/>
                </a:lnTo>
                <a:lnTo>
                  <a:pt x="0" y="25861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2095190" y="2021154"/>
            <a:ext cx="5357753" cy="5591583"/>
          </a:xfrm>
          <a:custGeom>
            <a:avLst/>
            <a:gdLst/>
            <a:ahLst/>
            <a:cxnLst/>
            <a:rect l="l" t="t" r="r" b="b"/>
            <a:pathLst>
              <a:path w="5357753" h="5591583">
                <a:moveTo>
                  <a:pt x="5357753" y="0"/>
                </a:moveTo>
                <a:lnTo>
                  <a:pt x="0" y="0"/>
                </a:lnTo>
                <a:lnTo>
                  <a:pt x="0" y="5591582"/>
                </a:lnTo>
                <a:lnTo>
                  <a:pt x="5357753" y="5591582"/>
                </a:lnTo>
                <a:lnTo>
                  <a:pt x="5357753"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947148" y="1264426"/>
            <a:ext cx="3144039" cy="2440918"/>
          </a:xfrm>
          <a:custGeom>
            <a:avLst/>
            <a:gdLst/>
            <a:ahLst/>
            <a:cxnLst/>
            <a:rect l="l" t="t" r="r" b="b"/>
            <a:pathLst>
              <a:path w="3144039" h="2440918">
                <a:moveTo>
                  <a:pt x="0" y="0"/>
                </a:moveTo>
                <a:lnTo>
                  <a:pt x="3144040" y="0"/>
                </a:lnTo>
                <a:lnTo>
                  <a:pt x="3144040" y="2440918"/>
                </a:lnTo>
                <a:lnTo>
                  <a:pt x="0" y="24409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624872" y="5005800"/>
            <a:ext cx="1894295" cy="4252500"/>
          </a:xfrm>
          <a:custGeom>
            <a:avLst/>
            <a:gdLst/>
            <a:ahLst/>
            <a:cxnLst/>
            <a:rect l="l" t="t" r="r" b="b"/>
            <a:pathLst>
              <a:path w="1894295" h="4252500">
                <a:moveTo>
                  <a:pt x="0" y="0"/>
                </a:moveTo>
                <a:lnTo>
                  <a:pt x="1894295" y="0"/>
                </a:lnTo>
                <a:lnTo>
                  <a:pt x="1894295" y="4252500"/>
                </a:lnTo>
                <a:lnTo>
                  <a:pt x="0" y="42525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4011803" y="7612736"/>
            <a:ext cx="3486358" cy="4114800"/>
          </a:xfrm>
          <a:custGeom>
            <a:avLst/>
            <a:gdLst/>
            <a:ahLst/>
            <a:cxnLst/>
            <a:rect l="l" t="t" r="r" b="b"/>
            <a:pathLst>
              <a:path w="3486358" h="4114800">
                <a:moveTo>
                  <a:pt x="0" y="0"/>
                </a:moveTo>
                <a:lnTo>
                  <a:pt x="3486358" y="0"/>
                </a:lnTo>
                <a:lnTo>
                  <a:pt x="348635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TextBox 9"/>
          <p:cNvSpPr txBox="1"/>
          <p:nvPr/>
        </p:nvSpPr>
        <p:spPr>
          <a:xfrm>
            <a:off x="7125881" y="6075987"/>
            <a:ext cx="10755362" cy="1056063"/>
          </a:xfrm>
          <a:prstGeom prst="rect">
            <a:avLst/>
          </a:prstGeom>
        </p:spPr>
        <p:txBody>
          <a:bodyPr lIns="0" tIns="0" rIns="0" bIns="0" rtlCol="0" anchor="t">
            <a:spAutoFit/>
          </a:bodyPr>
          <a:lstStyle/>
          <a:p>
            <a:pPr algn="ctr">
              <a:lnSpc>
                <a:spcPts val="9054"/>
              </a:lnSpc>
              <a:spcBef>
                <a:spcPct val="0"/>
              </a:spcBef>
            </a:pPr>
            <a:r>
              <a:rPr lang="en-US" sz="4975" spc="388">
                <a:solidFill>
                  <a:srgbClr val="F7B4A7"/>
                </a:solidFill>
                <a:latin typeface="Josefin Sans"/>
              </a:rPr>
              <a:t>ĐỀ TÀI :  QUẢN LÝ WEB BLOG</a:t>
            </a:r>
          </a:p>
        </p:txBody>
      </p:sp>
      <p:sp>
        <p:nvSpPr>
          <p:cNvPr id="10" name="TextBox 10"/>
          <p:cNvSpPr txBox="1"/>
          <p:nvPr/>
        </p:nvSpPr>
        <p:spPr>
          <a:xfrm>
            <a:off x="9354285" y="7326986"/>
            <a:ext cx="6298555" cy="1612320"/>
          </a:xfrm>
          <a:prstGeom prst="rect">
            <a:avLst/>
          </a:prstGeom>
        </p:spPr>
        <p:txBody>
          <a:bodyPr lIns="0" tIns="0" rIns="0" bIns="0" rtlCol="0" anchor="t">
            <a:spAutoFit/>
          </a:bodyPr>
          <a:lstStyle/>
          <a:p>
            <a:pPr algn="ctr">
              <a:lnSpc>
                <a:spcPts val="6324"/>
              </a:lnSpc>
              <a:spcBef>
                <a:spcPct val="0"/>
              </a:spcBef>
            </a:pPr>
            <a:r>
              <a:rPr lang="en-US" sz="3475" spc="271">
                <a:solidFill>
                  <a:srgbClr val="FFFFFF"/>
                </a:solidFill>
                <a:latin typeface="Times New Roman Bold"/>
              </a:rPr>
              <a:t>GVHD:  TS. Nguyễn Sĩ Thìn</a:t>
            </a:r>
          </a:p>
          <a:p>
            <a:pPr algn="ctr">
              <a:lnSpc>
                <a:spcPts val="6324"/>
              </a:lnSpc>
              <a:spcBef>
                <a:spcPct val="0"/>
              </a:spcBef>
            </a:pPr>
            <a:r>
              <a:rPr lang="en-US" sz="3475" spc="271">
                <a:solidFill>
                  <a:srgbClr val="FFFFFF"/>
                </a:solidFill>
                <a:latin typeface="Times New Roman Bold"/>
              </a:rPr>
              <a:t>SVTH:   Nguyễn Đức Khoa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2" name="Freeform 2"/>
          <p:cNvSpPr/>
          <p:nvPr/>
        </p:nvSpPr>
        <p:spPr>
          <a:xfrm>
            <a:off x="1309758" y="1684366"/>
            <a:ext cx="3874545" cy="5122596"/>
          </a:xfrm>
          <a:custGeom>
            <a:avLst/>
            <a:gdLst/>
            <a:ahLst/>
            <a:cxnLst/>
            <a:rect l="l" t="t" r="r" b="b"/>
            <a:pathLst>
              <a:path w="3874545" h="5122596">
                <a:moveTo>
                  <a:pt x="0" y="0"/>
                </a:moveTo>
                <a:lnTo>
                  <a:pt x="3874546" y="0"/>
                </a:lnTo>
                <a:lnTo>
                  <a:pt x="3874546" y="5122596"/>
                </a:lnTo>
                <a:lnTo>
                  <a:pt x="0" y="51225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380976" y="2475095"/>
            <a:ext cx="3874545" cy="5122596"/>
          </a:xfrm>
          <a:custGeom>
            <a:avLst/>
            <a:gdLst/>
            <a:ahLst/>
            <a:cxnLst/>
            <a:rect l="l" t="t" r="r" b="b"/>
            <a:pathLst>
              <a:path w="3874545" h="5122596">
                <a:moveTo>
                  <a:pt x="0" y="0"/>
                </a:moveTo>
                <a:lnTo>
                  <a:pt x="3874545" y="0"/>
                </a:lnTo>
                <a:lnTo>
                  <a:pt x="3874545" y="5122595"/>
                </a:lnTo>
                <a:lnTo>
                  <a:pt x="0" y="51225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495732" y="3214319"/>
            <a:ext cx="3874545" cy="5122596"/>
          </a:xfrm>
          <a:custGeom>
            <a:avLst/>
            <a:gdLst/>
            <a:ahLst/>
            <a:cxnLst/>
            <a:rect l="l" t="t" r="r" b="b"/>
            <a:pathLst>
              <a:path w="3874545" h="5122596">
                <a:moveTo>
                  <a:pt x="0" y="0"/>
                </a:moveTo>
                <a:lnTo>
                  <a:pt x="3874545" y="0"/>
                </a:lnTo>
                <a:lnTo>
                  <a:pt x="3874545" y="5122596"/>
                </a:lnTo>
                <a:lnTo>
                  <a:pt x="0" y="51225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8105676" y="2259375"/>
            <a:ext cx="8778329" cy="1490789"/>
          </a:xfrm>
          <a:prstGeom prst="rect">
            <a:avLst/>
          </a:prstGeom>
        </p:spPr>
        <p:txBody>
          <a:bodyPr lIns="0" tIns="0" rIns="0" bIns="0" rtlCol="0" anchor="t">
            <a:spAutoFit/>
          </a:bodyPr>
          <a:lstStyle/>
          <a:p>
            <a:pPr algn="ctr">
              <a:lnSpc>
                <a:spcPts val="12876"/>
              </a:lnSpc>
              <a:spcBef>
                <a:spcPct val="0"/>
              </a:spcBef>
            </a:pPr>
            <a:r>
              <a:rPr lang="en-US" sz="7075" spc="551">
                <a:solidFill>
                  <a:srgbClr val="F7B4A7"/>
                </a:solidFill>
                <a:latin typeface="Josefin Sans Bold"/>
              </a:rPr>
              <a:t>Đề tài : Web Blog</a:t>
            </a:r>
          </a:p>
        </p:txBody>
      </p:sp>
      <p:sp>
        <p:nvSpPr>
          <p:cNvPr id="6" name="TextBox 6"/>
          <p:cNvSpPr txBox="1"/>
          <p:nvPr/>
        </p:nvSpPr>
        <p:spPr>
          <a:xfrm>
            <a:off x="8046368" y="4006285"/>
            <a:ext cx="8896945" cy="3119564"/>
          </a:xfrm>
          <a:prstGeom prst="rect">
            <a:avLst/>
          </a:prstGeom>
        </p:spPr>
        <p:txBody>
          <a:bodyPr lIns="0" tIns="0" rIns="0" bIns="0" rtlCol="0" anchor="t">
            <a:spAutoFit/>
          </a:bodyPr>
          <a:lstStyle/>
          <a:p>
            <a:pPr algn="ctr">
              <a:lnSpc>
                <a:spcPts val="12876"/>
              </a:lnSpc>
              <a:spcBef>
                <a:spcPct val="0"/>
              </a:spcBef>
            </a:pPr>
            <a:r>
              <a:rPr lang="en-US" sz="7075" spc="551">
                <a:solidFill>
                  <a:srgbClr val="F7B4A7"/>
                </a:solidFill>
                <a:latin typeface="Josefin Sans Bold"/>
              </a:rPr>
              <a:t>Trình bày </a:t>
            </a:r>
          </a:p>
          <a:p>
            <a:pPr algn="ctr">
              <a:lnSpc>
                <a:spcPts val="12876"/>
              </a:lnSpc>
              <a:spcBef>
                <a:spcPct val="0"/>
              </a:spcBef>
            </a:pPr>
            <a:r>
              <a:rPr lang="en-US" sz="7075" spc="551">
                <a:solidFill>
                  <a:srgbClr val="F7B4A7"/>
                </a:solidFill>
                <a:latin typeface="Josefin Sans Bold"/>
              </a:rPr>
              <a:t>Nguyễn Đức Khoa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94DDDE"/>
        </a:solidFill>
        <a:effectLst/>
      </p:bgPr>
    </p:bg>
    <p:spTree>
      <p:nvGrpSpPr>
        <p:cNvPr id="1" name=""/>
        <p:cNvGrpSpPr/>
        <p:nvPr/>
      </p:nvGrpSpPr>
      <p:grpSpPr>
        <a:xfrm>
          <a:off x="0" y="0"/>
          <a:ext cx="0" cy="0"/>
          <a:chOff x="0" y="0"/>
          <a:chExt cx="0" cy="0"/>
        </a:xfrm>
      </p:grpSpPr>
      <p:sp>
        <p:nvSpPr>
          <p:cNvPr id="2" name="TextBox 2"/>
          <p:cNvSpPr txBox="1"/>
          <p:nvPr/>
        </p:nvSpPr>
        <p:spPr>
          <a:xfrm>
            <a:off x="1076325" y="1009650"/>
            <a:ext cx="16135350" cy="990600"/>
          </a:xfrm>
          <a:prstGeom prst="rect">
            <a:avLst/>
          </a:prstGeom>
        </p:spPr>
        <p:txBody>
          <a:bodyPr lIns="0" tIns="0" rIns="0" bIns="0" rtlCol="0" anchor="t">
            <a:spAutoFit/>
          </a:bodyPr>
          <a:lstStyle/>
          <a:p>
            <a:pPr algn="ctr">
              <a:lnSpc>
                <a:spcPts val="7680"/>
              </a:lnSpc>
            </a:pPr>
            <a:r>
              <a:rPr lang="en-US" sz="6400">
                <a:solidFill>
                  <a:srgbClr val="2B4B82"/>
                </a:solidFill>
                <a:latin typeface="Josefin Sans Bold"/>
              </a:rPr>
              <a:t>Nội dung</a:t>
            </a:r>
          </a:p>
        </p:txBody>
      </p:sp>
      <p:grpSp>
        <p:nvGrpSpPr>
          <p:cNvPr id="3" name="Group 3"/>
          <p:cNvGrpSpPr/>
          <p:nvPr/>
        </p:nvGrpSpPr>
        <p:grpSpPr>
          <a:xfrm>
            <a:off x="5516469" y="4511336"/>
            <a:ext cx="2913436" cy="2348999"/>
            <a:chOff x="0" y="0"/>
            <a:chExt cx="3884582" cy="3131999"/>
          </a:xfrm>
        </p:grpSpPr>
        <p:sp>
          <p:nvSpPr>
            <p:cNvPr id="4" name="TextBox 4"/>
            <p:cNvSpPr txBox="1"/>
            <p:nvPr/>
          </p:nvSpPr>
          <p:spPr>
            <a:xfrm>
              <a:off x="0" y="-76200"/>
              <a:ext cx="3884582" cy="766474"/>
            </a:xfrm>
            <a:prstGeom prst="rect">
              <a:avLst/>
            </a:prstGeom>
          </p:spPr>
          <p:txBody>
            <a:bodyPr lIns="0" tIns="0" rIns="0" bIns="0" rtlCol="0" anchor="t">
              <a:spAutoFit/>
            </a:bodyPr>
            <a:lstStyle/>
            <a:p>
              <a:pPr algn="ctr">
                <a:lnSpc>
                  <a:spcPts val="4755"/>
                </a:lnSpc>
              </a:pPr>
              <a:r>
                <a:rPr lang="en-US" sz="3396" spc="580">
                  <a:solidFill>
                    <a:srgbClr val="2B4B82"/>
                  </a:solidFill>
                  <a:latin typeface="Josefin Sans Bold"/>
                </a:rPr>
                <a:t>BƯỚC</a:t>
              </a:r>
            </a:p>
          </p:txBody>
        </p:sp>
        <p:sp>
          <p:nvSpPr>
            <p:cNvPr id="5" name="TextBox 5"/>
            <p:cNvSpPr txBox="1"/>
            <p:nvPr/>
          </p:nvSpPr>
          <p:spPr>
            <a:xfrm>
              <a:off x="0" y="1113533"/>
              <a:ext cx="3884582" cy="2018466"/>
            </a:xfrm>
            <a:prstGeom prst="rect">
              <a:avLst/>
            </a:prstGeom>
          </p:spPr>
          <p:txBody>
            <a:bodyPr lIns="0" tIns="0" rIns="0" bIns="0" rtlCol="0" anchor="t">
              <a:spAutoFit/>
            </a:bodyPr>
            <a:lstStyle/>
            <a:p>
              <a:pPr algn="ctr">
                <a:lnSpc>
                  <a:spcPts val="4075"/>
                </a:lnSpc>
              </a:pPr>
              <a:r>
                <a:rPr lang="en-US" sz="2911">
                  <a:solidFill>
                    <a:srgbClr val="2B4B82"/>
                  </a:solidFill>
                  <a:latin typeface="Josefin Sans Bold"/>
                </a:rPr>
                <a:t>Giới thiệu xây dựng về đồ án web blog.</a:t>
              </a:r>
            </a:p>
          </p:txBody>
        </p:sp>
      </p:grpSp>
      <p:grpSp>
        <p:nvGrpSpPr>
          <p:cNvPr id="6" name="Group 6"/>
          <p:cNvGrpSpPr/>
          <p:nvPr/>
        </p:nvGrpSpPr>
        <p:grpSpPr>
          <a:xfrm>
            <a:off x="1318599" y="4511336"/>
            <a:ext cx="2983479" cy="2334913"/>
            <a:chOff x="0" y="0"/>
            <a:chExt cx="3977971" cy="3113217"/>
          </a:xfrm>
        </p:grpSpPr>
        <p:sp>
          <p:nvSpPr>
            <p:cNvPr id="7" name="TextBox 7"/>
            <p:cNvSpPr txBox="1"/>
            <p:nvPr/>
          </p:nvSpPr>
          <p:spPr>
            <a:xfrm>
              <a:off x="0" y="-76200"/>
              <a:ext cx="3977971" cy="754473"/>
            </a:xfrm>
            <a:prstGeom prst="rect">
              <a:avLst/>
            </a:prstGeom>
          </p:spPr>
          <p:txBody>
            <a:bodyPr lIns="0" tIns="0" rIns="0" bIns="0" rtlCol="0" anchor="t">
              <a:spAutoFit/>
            </a:bodyPr>
            <a:lstStyle/>
            <a:p>
              <a:pPr algn="ctr">
                <a:lnSpc>
                  <a:spcPts val="4755"/>
                </a:lnSpc>
              </a:pPr>
              <a:r>
                <a:rPr lang="en-US" sz="3396" spc="580">
                  <a:solidFill>
                    <a:srgbClr val="2B4B82"/>
                  </a:solidFill>
                  <a:latin typeface="Josefin Sans Bold"/>
                </a:rPr>
                <a:t>BƯỚC</a:t>
              </a:r>
            </a:p>
          </p:txBody>
        </p:sp>
        <p:sp>
          <p:nvSpPr>
            <p:cNvPr id="8" name="TextBox 8"/>
            <p:cNvSpPr txBox="1"/>
            <p:nvPr/>
          </p:nvSpPr>
          <p:spPr>
            <a:xfrm>
              <a:off x="0" y="1094751"/>
              <a:ext cx="3977971" cy="2018466"/>
            </a:xfrm>
            <a:prstGeom prst="rect">
              <a:avLst/>
            </a:prstGeom>
          </p:spPr>
          <p:txBody>
            <a:bodyPr lIns="0" tIns="0" rIns="0" bIns="0" rtlCol="0" anchor="t">
              <a:spAutoFit/>
            </a:bodyPr>
            <a:lstStyle/>
            <a:p>
              <a:pPr algn="ctr">
                <a:lnSpc>
                  <a:spcPts val="4075"/>
                </a:lnSpc>
              </a:pPr>
              <a:r>
                <a:rPr lang="en-US" sz="2911">
                  <a:solidFill>
                    <a:srgbClr val="2B4B82"/>
                  </a:solidFill>
                  <a:latin typeface="Josefin Sans Bold"/>
                </a:rPr>
                <a:t>Giới thiệu về web framework django Django.</a:t>
              </a:r>
            </a:p>
          </p:txBody>
        </p:sp>
      </p:grpSp>
      <p:grpSp>
        <p:nvGrpSpPr>
          <p:cNvPr id="9" name="Group 9"/>
          <p:cNvGrpSpPr/>
          <p:nvPr/>
        </p:nvGrpSpPr>
        <p:grpSpPr>
          <a:xfrm>
            <a:off x="9440340" y="4511336"/>
            <a:ext cx="2983479" cy="1836401"/>
            <a:chOff x="0" y="0"/>
            <a:chExt cx="3977971" cy="2448535"/>
          </a:xfrm>
        </p:grpSpPr>
        <p:sp>
          <p:nvSpPr>
            <p:cNvPr id="10" name="TextBox 10"/>
            <p:cNvSpPr txBox="1"/>
            <p:nvPr/>
          </p:nvSpPr>
          <p:spPr>
            <a:xfrm>
              <a:off x="0" y="-76200"/>
              <a:ext cx="3977971" cy="766474"/>
            </a:xfrm>
            <a:prstGeom prst="rect">
              <a:avLst/>
            </a:prstGeom>
          </p:spPr>
          <p:txBody>
            <a:bodyPr lIns="0" tIns="0" rIns="0" bIns="0" rtlCol="0" anchor="t">
              <a:spAutoFit/>
            </a:bodyPr>
            <a:lstStyle/>
            <a:p>
              <a:pPr algn="ctr">
                <a:lnSpc>
                  <a:spcPts val="4755"/>
                </a:lnSpc>
              </a:pPr>
              <a:r>
                <a:rPr lang="en-US" sz="3396" spc="580">
                  <a:solidFill>
                    <a:srgbClr val="2B4B82"/>
                  </a:solidFill>
                  <a:latin typeface="Josefin Sans Bold"/>
                </a:rPr>
                <a:t>BƯỚC</a:t>
              </a:r>
            </a:p>
          </p:txBody>
        </p:sp>
        <p:sp>
          <p:nvSpPr>
            <p:cNvPr id="11" name="TextBox 11"/>
            <p:cNvSpPr txBox="1"/>
            <p:nvPr/>
          </p:nvSpPr>
          <p:spPr>
            <a:xfrm>
              <a:off x="0" y="1113533"/>
              <a:ext cx="3977971" cy="1335002"/>
            </a:xfrm>
            <a:prstGeom prst="rect">
              <a:avLst/>
            </a:prstGeom>
          </p:spPr>
          <p:txBody>
            <a:bodyPr lIns="0" tIns="0" rIns="0" bIns="0" rtlCol="0" anchor="t">
              <a:spAutoFit/>
            </a:bodyPr>
            <a:lstStyle/>
            <a:p>
              <a:pPr algn="ctr">
                <a:lnSpc>
                  <a:spcPts val="4075"/>
                </a:lnSpc>
              </a:pPr>
              <a:r>
                <a:rPr lang="en-US" sz="2911">
                  <a:solidFill>
                    <a:srgbClr val="2B4B82"/>
                  </a:solidFill>
                  <a:latin typeface="Josefin Sans Bold"/>
                </a:rPr>
                <a:t>Triển khai dự án</a:t>
              </a:r>
            </a:p>
            <a:p>
              <a:pPr algn="ctr">
                <a:lnSpc>
                  <a:spcPts val="4075"/>
                </a:lnSpc>
              </a:pPr>
              <a:r>
                <a:rPr lang="en-US" sz="2911">
                  <a:solidFill>
                    <a:srgbClr val="2B4B82"/>
                  </a:solidFill>
                  <a:latin typeface="Josefin Sans Bold"/>
                </a:rPr>
                <a:t>Blog</a:t>
              </a:r>
            </a:p>
          </p:txBody>
        </p:sp>
      </p:grpSp>
      <p:grpSp>
        <p:nvGrpSpPr>
          <p:cNvPr id="12" name="Group 12"/>
          <p:cNvGrpSpPr/>
          <p:nvPr/>
        </p:nvGrpSpPr>
        <p:grpSpPr>
          <a:xfrm>
            <a:off x="13622306" y="4511336"/>
            <a:ext cx="3251845" cy="1323804"/>
            <a:chOff x="0" y="0"/>
            <a:chExt cx="4335793" cy="1765072"/>
          </a:xfrm>
        </p:grpSpPr>
        <p:sp>
          <p:nvSpPr>
            <p:cNvPr id="13" name="TextBox 13"/>
            <p:cNvSpPr txBox="1"/>
            <p:nvPr/>
          </p:nvSpPr>
          <p:spPr>
            <a:xfrm>
              <a:off x="0" y="-76200"/>
              <a:ext cx="4335793" cy="766474"/>
            </a:xfrm>
            <a:prstGeom prst="rect">
              <a:avLst/>
            </a:prstGeom>
          </p:spPr>
          <p:txBody>
            <a:bodyPr lIns="0" tIns="0" rIns="0" bIns="0" rtlCol="0" anchor="t">
              <a:spAutoFit/>
            </a:bodyPr>
            <a:lstStyle/>
            <a:p>
              <a:pPr algn="ctr">
                <a:lnSpc>
                  <a:spcPts val="4755"/>
                </a:lnSpc>
              </a:pPr>
              <a:r>
                <a:rPr lang="en-US" sz="3396" spc="580">
                  <a:solidFill>
                    <a:srgbClr val="2B4B82"/>
                  </a:solidFill>
                  <a:latin typeface="Josefin Sans Bold"/>
                </a:rPr>
                <a:t>BƯỚC</a:t>
              </a:r>
            </a:p>
          </p:txBody>
        </p:sp>
        <p:sp>
          <p:nvSpPr>
            <p:cNvPr id="14" name="TextBox 14"/>
            <p:cNvSpPr txBox="1"/>
            <p:nvPr/>
          </p:nvSpPr>
          <p:spPr>
            <a:xfrm>
              <a:off x="0" y="1113533"/>
              <a:ext cx="4335793" cy="651539"/>
            </a:xfrm>
            <a:prstGeom prst="rect">
              <a:avLst/>
            </a:prstGeom>
          </p:spPr>
          <p:txBody>
            <a:bodyPr lIns="0" tIns="0" rIns="0" bIns="0" rtlCol="0" anchor="t">
              <a:spAutoFit/>
            </a:bodyPr>
            <a:lstStyle/>
            <a:p>
              <a:pPr algn="ctr">
                <a:lnSpc>
                  <a:spcPts val="4075"/>
                </a:lnSpc>
              </a:pPr>
              <a:r>
                <a:rPr lang="en-US" sz="2911">
                  <a:solidFill>
                    <a:srgbClr val="2B4B82"/>
                  </a:solidFill>
                  <a:latin typeface="Josefin Sans Bold"/>
                </a:rPr>
                <a:t>Lời cảm ơn</a:t>
              </a:r>
            </a:p>
          </p:txBody>
        </p:sp>
      </p:grpSp>
      <p:grpSp>
        <p:nvGrpSpPr>
          <p:cNvPr id="15" name="Group 15"/>
          <p:cNvGrpSpPr/>
          <p:nvPr/>
        </p:nvGrpSpPr>
        <p:grpSpPr>
          <a:xfrm>
            <a:off x="2444369" y="3426665"/>
            <a:ext cx="13169830" cy="813448"/>
            <a:chOff x="0" y="0"/>
            <a:chExt cx="17559773" cy="1084598"/>
          </a:xfrm>
        </p:grpSpPr>
        <p:sp>
          <p:nvSpPr>
            <p:cNvPr id="16" name="TextBox 16"/>
            <p:cNvSpPr txBox="1"/>
            <p:nvPr/>
          </p:nvSpPr>
          <p:spPr>
            <a:xfrm>
              <a:off x="0" y="-104775"/>
              <a:ext cx="975920" cy="1189373"/>
            </a:xfrm>
            <a:prstGeom prst="rect">
              <a:avLst/>
            </a:prstGeom>
          </p:spPr>
          <p:txBody>
            <a:bodyPr lIns="0" tIns="0" rIns="0" bIns="0" rtlCol="0" anchor="t">
              <a:spAutoFit/>
            </a:bodyPr>
            <a:lstStyle/>
            <a:p>
              <a:pPr algn="ctr">
                <a:lnSpc>
                  <a:spcPts val="7472"/>
                </a:lnSpc>
              </a:pPr>
              <a:r>
                <a:rPr lang="en-US" sz="5337" spc="912">
                  <a:solidFill>
                    <a:srgbClr val="2B4B82"/>
                  </a:solidFill>
                  <a:latin typeface="Josefin Sans Bold"/>
                </a:rPr>
                <a:t>1</a:t>
              </a:r>
            </a:p>
          </p:txBody>
        </p:sp>
        <p:sp>
          <p:nvSpPr>
            <p:cNvPr id="17" name="TextBox 17"/>
            <p:cNvSpPr txBox="1"/>
            <p:nvPr/>
          </p:nvSpPr>
          <p:spPr>
            <a:xfrm>
              <a:off x="5550464" y="-104775"/>
              <a:ext cx="975920" cy="1189373"/>
            </a:xfrm>
            <a:prstGeom prst="rect">
              <a:avLst/>
            </a:prstGeom>
          </p:spPr>
          <p:txBody>
            <a:bodyPr lIns="0" tIns="0" rIns="0" bIns="0" rtlCol="0" anchor="t">
              <a:spAutoFit/>
            </a:bodyPr>
            <a:lstStyle/>
            <a:p>
              <a:pPr algn="ctr">
                <a:lnSpc>
                  <a:spcPts val="7472"/>
                </a:lnSpc>
              </a:pPr>
              <a:r>
                <a:rPr lang="en-US" sz="5337" spc="912">
                  <a:solidFill>
                    <a:srgbClr val="2B4B82"/>
                  </a:solidFill>
                  <a:latin typeface="Josefin Sans Bold"/>
                </a:rPr>
                <a:t>2</a:t>
              </a:r>
            </a:p>
          </p:txBody>
        </p:sp>
        <p:sp>
          <p:nvSpPr>
            <p:cNvPr id="18" name="TextBox 18"/>
            <p:cNvSpPr txBox="1"/>
            <p:nvPr/>
          </p:nvSpPr>
          <p:spPr>
            <a:xfrm>
              <a:off x="10828987" y="-104775"/>
              <a:ext cx="975920" cy="1189373"/>
            </a:xfrm>
            <a:prstGeom prst="rect">
              <a:avLst/>
            </a:prstGeom>
          </p:spPr>
          <p:txBody>
            <a:bodyPr lIns="0" tIns="0" rIns="0" bIns="0" rtlCol="0" anchor="t">
              <a:spAutoFit/>
            </a:bodyPr>
            <a:lstStyle/>
            <a:p>
              <a:pPr algn="ctr">
                <a:lnSpc>
                  <a:spcPts val="7472"/>
                </a:lnSpc>
              </a:pPr>
              <a:r>
                <a:rPr lang="en-US" sz="5337" spc="912">
                  <a:solidFill>
                    <a:srgbClr val="2B4B82"/>
                  </a:solidFill>
                  <a:latin typeface="Josefin Sans Bold"/>
                </a:rPr>
                <a:t>3</a:t>
              </a:r>
            </a:p>
          </p:txBody>
        </p:sp>
        <p:sp>
          <p:nvSpPr>
            <p:cNvPr id="19" name="TextBox 19"/>
            <p:cNvSpPr txBox="1"/>
            <p:nvPr/>
          </p:nvSpPr>
          <p:spPr>
            <a:xfrm>
              <a:off x="16583853" y="-104775"/>
              <a:ext cx="975920" cy="1189373"/>
            </a:xfrm>
            <a:prstGeom prst="rect">
              <a:avLst/>
            </a:prstGeom>
          </p:spPr>
          <p:txBody>
            <a:bodyPr lIns="0" tIns="0" rIns="0" bIns="0" rtlCol="0" anchor="t">
              <a:spAutoFit/>
            </a:bodyPr>
            <a:lstStyle/>
            <a:p>
              <a:pPr algn="ctr">
                <a:lnSpc>
                  <a:spcPts val="7472"/>
                </a:lnSpc>
              </a:pPr>
              <a:r>
                <a:rPr lang="en-US" sz="5337" spc="912">
                  <a:solidFill>
                    <a:srgbClr val="2B4B82"/>
                  </a:solidFill>
                  <a:latin typeface="Josefin Sans Bold"/>
                </a:rPr>
                <a:t>4</a:t>
              </a:r>
            </a:p>
          </p:txBody>
        </p:sp>
        <p:sp>
          <p:nvSpPr>
            <p:cNvPr id="20" name="AutoShape 20"/>
            <p:cNvSpPr/>
            <p:nvPr/>
          </p:nvSpPr>
          <p:spPr>
            <a:xfrm>
              <a:off x="975920" y="502756"/>
              <a:ext cx="4281546" cy="0"/>
            </a:xfrm>
            <a:prstGeom prst="line">
              <a:avLst/>
            </a:prstGeom>
            <a:ln w="46219" cap="flat">
              <a:solidFill>
                <a:srgbClr val="2B4B82"/>
              </a:solidFill>
              <a:prstDash val="solid"/>
              <a:headEnd type="none" w="sm" len="sm"/>
              <a:tailEnd type="none" w="sm" len="sm"/>
            </a:ln>
          </p:spPr>
        </p:sp>
        <p:sp>
          <p:nvSpPr>
            <p:cNvPr id="21" name="AutoShape 21"/>
            <p:cNvSpPr/>
            <p:nvPr/>
          </p:nvSpPr>
          <p:spPr>
            <a:xfrm>
              <a:off x="6547441" y="502756"/>
              <a:ext cx="4281546" cy="0"/>
            </a:xfrm>
            <a:prstGeom prst="line">
              <a:avLst/>
            </a:prstGeom>
            <a:ln w="46219" cap="flat">
              <a:solidFill>
                <a:srgbClr val="2B4B82"/>
              </a:solidFill>
              <a:prstDash val="solid"/>
              <a:headEnd type="none" w="sm" len="sm"/>
              <a:tailEnd type="none" w="sm" len="sm"/>
            </a:ln>
          </p:spPr>
        </p:sp>
        <p:sp>
          <p:nvSpPr>
            <p:cNvPr id="22" name="AutoShape 22"/>
            <p:cNvSpPr/>
            <p:nvPr/>
          </p:nvSpPr>
          <p:spPr>
            <a:xfrm>
              <a:off x="12107078" y="502756"/>
              <a:ext cx="4281546" cy="0"/>
            </a:xfrm>
            <a:prstGeom prst="line">
              <a:avLst/>
            </a:prstGeom>
            <a:ln w="46219" cap="flat">
              <a:solidFill>
                <a:srgbClr val="2B4B82"/>
              </a:solidFill>
              <a:prstDash val="solid"/>
              <a:headEnd type="none" w="sm" len="sm"/>
              <a:tailEnd type="none" w="sm" len="sm"/>
            </a:ln>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94DDDE"/>
        </a:solidFill>
        <a:effectLst/>
      </p:bgPr>
    </p:bg>
    <p:spTree>
      <p:nvGrpSpPr>
        <p:cNvPr id="1" name=""/>
        <p:cNvGrpSpPr/>
        <p:nvPr/>
      </p:nvGrpSpPr>
      <p:grpSpPr>
        <a:xfrm>
          <a:off x="0" y="0"/>
          <a:ext cx="0" cy="0"/>
          <a:chOff x="0" y="0"/>
          <a:chExt cx="0" cy="0"/>
        </a:xfrm>
      </p:grpSpPr>
      <p:sp>
        <p:nvSpPr>
          <p:cNvPr id="2" name="Freeform 2"/>
          <p:cNvSpPr/>
          <p:nvPr/>
        </p:nvSpPr>
        <p:spPr>
          <a:xfrm>
            <a:off x="11497814" y="3086100"/>
            <a:ext cx="5131837" cy="4114800"/>
          </a:xfrm>
          <a:custGeom>
            <a:avLst/>
            <a:gdLst/>
            <a:ahLst/>
            <a:cxnLst/>
            <a:rect l="l" t="t" r="r" b="b"/>
            <a:pathLst>
              <a:path w="5131837" h="4114800">
                <a:moveTo>
                  <a:pt x="0" y="0"/>
                </a:moveTo>
                <a:lnTo>
                  <a:pt x="5131837" y="0"/>
                </a:lnTo>
                <a:lnTo>
                  <a:pt x="513183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681813" y="1993731"/>
            <a:ext cx="10816002" cy="6299537"/>
            <a:chOff x="0" y="0"/>
            <a:chExt cx="14421336" cy="8399383"/>
          </a:xfrm>
        </p:grpSpPr>
        <p:sp>
          <p:nvSpPr>
            <p:cNvPr id="4" name="TextBox 4"/>
            <p:cNvSpPr txBox="1"/>
            <p:nvPr/>
          </p:nvSpPr>
          <p:spPr>
            <a:xfrm>
              <a:off x="0" y="702024"/>
              <a:ext cx="14421336" cy="2727325"/>
            </a:xfrm>
            <a:prstGeom prst="rect">
              <a:avLst/>
            </a:prstGeom>
          </p:spPr>
          <p:txBody>
            <a:bodyPr lIns="0" tIns="0" rIns="0" bIns="0" rtlCol="0" anchor="t">
              <a:spAutoFit/>
            </a:bodyPr>
            <a:lstStyle/>
            <a:p>
              <a:pPr>
                <a:lnSpc>
                  <a:spcPts val="8073"/>
                </a:lnSpc>
              </a:pPr>
              <a:r>
                <a:rPr lang="en-US" sz="6727">
                  <a:solidFill>
                    <a:srgbClr val="31356E"/>
                  </a:solidFill>
                  <a:latin typeface="Josefin Sans Bold"/>
                </a:rPr>
                <a:t>Giới thiệu về web framework django Django</a:t>
              </a:r>
            </a:p>
          </p:txBody>
        </p:sp>
        <p:sp>
          <p:nvSpPr>
            <p:cNvPr id="5" name="TextBox 5"/>
            <p:cNvSpPr txBox="1"/>
            <p:nvPr/>
          </p:nvSpPr>
          <p:spPr>
            <a:xfrm>
              <a:off x="0" y="4855698"/>
              <a:ext cx="13817040" cy="3881179"/>
            </a:xfrm>
            <a:prstGeom prst="rect">
              <a:avLst/>
            </a:prstGeom>
          </p:spPr>
          <p:txBody>
            <a:bodyPr lIns="0" tIns="0" rIns="0" bIns="0" rtlCol="0" anchor="t">
              <a:spAutoFit/>
            </a:bodyPr>
            <a:lstStyle/>
            <a:p>
              <a:pPr>
                <a:lnSpc>
                  <a:spcPts val="3853"/>
                </a:lnSpc>
              </a:pPr>
              <a:r>
                <a:rPr lang="en-US" sz="3211">
                  <a:solidFill>
                    <a:srgbClr val="2B4B82"/>
                  </a:solidFill>
                  <a:latin typeface="Josefin Sans"/>
                </a:rPr>
                <a:t>Giới thiệu về web framework django Django</a:t>
              </a:r>
            </a:p>
            <a:p>
              <a:pPr>
                <a:lnSpc>
                  <a:spcPts val="3853"/>
                </a:lnSpc>
              </a:pPr>
              <a:r>
                <a:rPr lang="en-US" sz="3211">
                  <a:solidFill>
                    <a:srgbClr val="2B4B82"/>
                  </a:solidFill>
                  <a:latin typeface="Josefin Sans"/>
                </a:rPr>
                <a:t>Công nghệ là một công cụ mạnh mẽ đã và đang thay đổi cách dạy của giáo viên và cách học của học sinh. Công nghệ trao cho mọi người cơ hội tiếp cận với giáo dục cũng như tiếp cận nhiều cách khác nhau để giao tiếp và cùng làm việc.</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TextBox 2"/>
          <p:cNvSpPr txBox="1"/>
          <p:nvPr/>
        </p:nvSpPr>
        <p:spPr>
          <a:xfrm>
            <a:off x="967808" y="2503570"/>
            <a:ext cx="8052875" cy="7130415"/>
          </a:xfrm>
          <a:prstGeom prst="rect">
            <a:avLst/>
          </a:prstGeom>
        </p:spPr>
        <p:txBody>
          <a:bodyPr lIns="0" tIns="0" rIns="0" bIns="0" rtlCol="0" anchor="t">
            <a:spAutoFit/>
          </a:bodyPr>
          <a:lstStyle/>
          <a:p>
            <a:pPr marL="518160" lvl="1" indent="-259080">
              <a:lnSpc>
                <a:spcPts val="3359"/>
              </a:lnSpc>
              <a:buFont typeface="Arial"/>
              <a:buChar char="•"/>
            </a:pPr>
            <a:r>
              <a:rPr lang="en-US" sz="2400">
                <a:solidFill>
                  <a:srgbClr val="2B4B82"/>
                </a:solidFill>
                <a:latin typeface="Josefin Sans"/>
              </a:rPr>
              <a:t>·Quản lý URL: Django giúp bạn dễ dàng ánh xạ URL đến các hàm xử lý trong ứng dụng web của bạn.</a:t>
            </a:r>
          </a:p>
          <a:p>
            <a:pPr marL="518160" lvl="1" indent="-259080">
              <a:lnSpc>
                <a:spcPts val="3359"/>
              </a:lnSpc>
              <a:buFont typeface="Arial"/>
              <a:buChar char="•"/>
            </a:pPr>
            <a:r>
              <a:rPr lang="en-US" sz="2400">
                <a:solidFill>
                  <a:srgbClr val="2B4B82"/>
                </a:solidFill>
                <a:latin typeface="Josefin Sans"/>
              </a:rPr>
              <a:t>·Hệ thống mẫu: Django cung cấp hệ thống mẫu mạnh mẽ cho phép bạn tạo ra các giao diện web HTML động.</a:t>
            </a:r>
          </a:p>
          <a:p>
            <a:pPr marL="518160" lvl="1" indent="-259080">
              <a:lnSpc>
                <a:spcPts val="3359"/>
              </a:lnSpc>
              <a:buFont typeface="Arial"/>
              <a:buChar char="•"/>
            </a:pPr>
            <a:r>
              <a:rPr lang="en-US" sz="2400">
                <a:solidFill>
                  <a:srgbClr val="2B4B82"/>
                </a:solidFill>
                <a:latin typeface="Josefin Sans"/>
              </a:rPr>
              <a:t>·Object-relational mapper (ORM): Django ORM giúp bạn dễ dàng tương tác với cơ sở dữ liệu mà không cần viết SQL phức tạp.</a:t>
            </a:r>
          </a:p>
          <a:p>
            <a:pPr marL="518160" lvl="1" indent="-259080">
              <a:lnSpc>
                <a:spcPts val="3359"/>
              </a:lnSpc>
              <a:buFont typeface="Arial"/>
              <a:buChar char="•"/>
            </a:pPr>
            <a:r>
              <a:rPr lang="en-US" sz="2400">
                <a:solidFill>
                  <a:srgbClr val="2B4B82"/>
                </a:solidFill>
                <a:latin typeface="Josefin Sans"/>
              </a:rPr>
              <a:t>·Quản trị trang web: Django cung cấp giao diện quản trị trang web tích hợp giúp bạn dễ dàng quản lý nội dung, người dùng và cài đặt ứng dụng web của mình.</a:t>
            </a:r>
          </a:p>
          <a:p>
            <a:pPr marL="518160" lvl="1" indent="-259080">
              <a:lnSpc>
                <a:spcPts val="3359"/>
              </a:lnSpc>
              <a:buFont typeface="Arial"/>
              <a:buChar char="•"/>
            </a:pPr>
            <a:r>
              <a:rPr lang="en-US" sz="2400">
                <a:solidFill>
                  <a:srgbClr val="2B4B82"/>
                </a:solidFill>
                <a:latin typeface="Josefin Sans"/>
              </a:rPr>
              <a:t>·Hệ thống xác thực và ủy quyền: Django cung cấp hệ thống xác thực và ủy quyền tích hợp giúp bạn bảo mật ứng dụng web của mình.</a:t>
            </a:r>
          </a:p>
          <a:p>
            <a:pPr marL="518160" lvl="1" indent="-259080">
              <a:lnSpc>
                <a:spcPts val="3359"/>
              </a:lnSpc>
              <a:buFont typeface="Arial"/>
              <a:buChar char="•"/>
            </a:pPr>
            <a:r>
              <a:rPr lang="en-US" sz="2400">
                <a:solidFill>
                  <a:srgbClr val="2B4B82"/>
                </a:solidFill>
                <a:latin typeface="Josefin Sans"/>
              </a:rPr>
              <a:t>·Hỗ trợ đa ngôn ngữ: Django hỗ trợ đa ngôn ngữ giúp bạn dễ dàng tạo ra các ứng dụng web có thể được sử dụng bởi người dùng ở các quốc gia khác nhau.</a:t>
            </a:r>
          </a:p>
        </p:txBody>
      </p:sp>
      <p:sp>
        <p:nvSpPr>
          <p:cNvPr id="3" name="TextBox 3"/>
          <p:cNvSpPr txBox="1"/>
          <p:nvPr/>
        </p:nvSpPr>
        <p:spPr>
          <a:xfrm>
            <a:off x="10126944" y="2503570"/>
            <a:ext cx="6023474" cy="7130415"/>
          </a:xfrm>
          <a:prstGeom prst="rect">
            <a:avLst/>
          </a:prstGeom>
        </p:spPr>
        <p:txBody>
          <a:bodyPr lIns="0" tIns="0" rIns="0" bIns="0" rtlCol="0" anchor="t">
            <a:spAutoFit/>
          </a:bodyPr>
          <a:lstStyle/>
          <a:p>
            <a:pPr>
              <a:lnSpc>
                <a:spcPts val="3359"/>
              </a:lnSpc>
            </a:pPr>
            <a:r>
              <a:rPr lang="en-US" sz="2400">
                <a:solidFill>
                  <a:srgbClr val="2B4B82"/>
                </a:solidFill>
                <a:latin typeface="Josefin Sans"/>
              </a:rPr>
              <a:t>Lợi ích của việc sử dụng Django:</a:t>
            </a:r>
          </a:p>
          <a:p>
            <a:pPr marL="518160" lvl="1" indent="-259080">
              <a:lnSpc>
                <a:spcPts val="3359"/>
              </a:lnSpc>
              <a:buFont typeface="Arial"/>
              <a:buChar char="•"/>
            </a:pPr>
            <a:r>
              <a:rPr lang="en-US" sz="2400">
                <a:solidFill>
                  <a:srgbClr val="2B4B82"/>
                </a:solidFill>
                <a:latin typeface="Josefin Sans"/>
              </a:rPr>
              <a:t>·Nhanh chóng: Django giúp bạn tạo ra các ứng dụng web nhanh chóng bằng cách cung cấp nhiều tính năng và công cụ được xây dựng sẵn.</a:t>
            </a:r>
          </a:p>
          <a:p>
            <a:pPr marL="518160" lvl="1" indent="-259080">
              <a:lnSpc>
                <a:spcPts val="3359"/>
              </a:lnSpc>
              <a:buFont typeface="Arial"/>
              <a:buChar char="•"/>
            </a:pPr>
            <a:r>
              <a:rPr lang="en-US" sz="2400">
                <a:solidFill>
                  <a:srgbClr val="2B4B82"/>
                </a:solidFill>
                <a:latin typeface="Josefin Sans"/>
              </a:rPr>
              <a:t>·Hiệu quả: Django được thiết kế để tạo ra các ứng dụng web hiệu quả và có thể mở rộng.</a:t>
            </a:r>
          </a:p>
          <a:p>
            <a:pPr marL="518160" lvl="1" indent="-259080">
              <a:lnSpc>
                <a:spcPts val="3359"/>
              </a:lnSpc>
              <a:buFont typeface="Arial"/>
              <a:buChar char="•"/>
            </a:pPr>
            <a:r>
              <a:rPr lang="en-US" sz="2400">
                <a:solidFill>
                  <a:srgbClr val="2B4B82"/>
                </a:solidFill>
                <a:latin typeface="Josefin Sans"/>
              </a:rPr>
              <a:t>·Dễ bảo trì: Django cung cấp mã rõ ràng và dễ hiểu giúp bạn dễ dàng bảo trì ứng dụng web của mình.</a:t>
            </a:r>
          </a:p>
          <a:p>
            <a:pPr marL="518160" lvl="1" indent="-259080">
              <a:lnSpc>
                <a:spcPts val="3359"/>
              </a:lnSpc>
              <a:buFont typeface="Arial"/>
              <a:buChar char="•"/>
            </a:pPr>
            <a:r>
              <a:rPr lang="en-US" sz="2400">
                <a:solidFill>
                  <a:srgbClr val="2B4B82"/>
                </a:solidFill>
                <a:latin typeface="Josefin Sans"/>
              </a:rPr>
              <a:t>·Bảo mật: Django cung cấp nhiều tính năng bảo mật giúp bảo vệ ứng dụng web của bạn khỏi các mối đe dọa.</a:t>
            </a:r>
          </a:p>
          <a:p>
            <a:pPr marL="518160" lvl="1" indent="-259080">
              <a:lnSpc>
                <a:spcPts val="3359"/>
              </a:lnSpc>
              <a:buFont typeface="Arial"/>
              <a:buChar char="•"/>
            </a:pPr>
            <a:r>
              <a:rPr lang="en-US" sz="2400">
                <a:solidFill>
                  <a:srgbClr val="2B4B82"/>
                </a:solidFill>
                <a:latin typeface="Josefin Sans"/>
              </a:rPr>
              <a:t>·Cộng đồng lớn: Django có một cộng đồng người dùng lớn và tích cực luôn sẵn sàng giúp đỡ bạn.</a:t>
            </a:r>
          </a:p>
        </p:txBody>
      </p:sp>
      <p:sp>
        <p:nvSpPr>
          <p:cNvPr id="4" name="Freeform 4"/>
          <p:cNvSpPr/>
          <p:nvPr/>
        </p:nvSpPr>
        <p:spPr>
          <a:xfrm>
            <a:off x="0" y="-963412"/>
            <a:ext cx="4597438" cy="2842053"/>
          </a:xfrm>
          <a:custGeom>
            <a:avLst/>
            <a:gdLst/>
            <a:ahLst/>
            <a:cxnLst/>
            <a:rect l="l" t="t" r="r" b="b"/>
            <a:pathLst>
              <a:path w="4597438" h="2842053">
                <a:moveTo>
                  <a:pt x="0" y="0"/>
                </a:moveTo>
                <a:lnTo>
                  <a:pt x="4597438" y="0"/>
                </a:lnTo>
                <a:lnTo>
                  <a:pt x="4597438" y="2842052"/>
                </a:lnTo>
                <a:lnTo>
                  <a:pt x="0" y="2842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a:off x="10551837" y="390596"/>
            <a:ext cx="2076668" cy="1276207"/>
          </a:xfrm>
          <a:custGeom>
            <a:avLst/>
            <a:gdLst/>
            <a:ahLst/>
            <a:cxnLst/>
            <a:rect l="l" t="t" r="r" b="b"/>
            <a:pathLst>
              <a:path w="2076668" h="1276207">
                <a:moveTo>
                  <a:pt x="2076668" y="0"/>
                </a:moveTo>
                <a:lnTo>
                  <a:pt x="0" y="0"/>
                </a:lnTo>
                <a:lnTo>
                  <a:pt x="0" y="1276208"/>
                </a:lnTo>
                <a:lnTo>
                  <a:pt x="2076668" y="1276208"/>
                </a:lnTo>
                <a:lnTo>
                  <a:pt x="2076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3138681" y="-2447996"/>
            <a:ext cx="3837986" cy="4114800"/>
          </a:xfrm>
          <a:custGeom>
            <a:avLst/>
            <a:gdLst/>
            <a:ahLst/>
            <a:cxnLst/>
            <a:rect l="l" t="t" r="r" b="b"/>
            <a:pathLst>
              <a:path w="3837986" h="4114800">
                <a:moveTo>
                  <a:pt x="0" y="0"/>
                </a:moveTo>
                <a:lnTo>
                  <a:pt x="3837987" y="0"/>
                </a:lnTo>
                <a:lnTo>
                  <a:pt x="383798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4994246" y="-3759204"/>
            <a:ext cx="5357753" cy="5591583"/>
          </a:xfrm>
          <a:custGeom>
            <a:avLst/>
            <a:gdLst/>
            <a:ahLst/>
            <a:cxnLst/>
            <a:rect l="l" t="t" r="r" b="b"/>
            <a:pathLst>
              <a:path w="5357753" h="5591583">
                <a:moveTo>
                  <a:pt x="0" y="0"/>
                </a:moveTo>
                <a:lnTo>
                  <a:pt x="5357752" y="0"/>
                </a:lnTo>
                <a:lnTo>
                  <a:pt x="5357752" y="5591583"/>
                </a:lnTo>
                <a:lnTo>
                  <a:pt x="0" y="559158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0" y="0"/>
            <a:ext cx="6912767" cy="10287000"/>
          </a:xfrm>
          <a:custGeom>
            <a:avLst/>
            <a:gdLst/>
            <a:ahLst/>
            <a:cxnLst/>
            <a:rect l="l" t="t" r="r" b="b"/>
            <a:pathLst>
              <a:path w="6912767" h="10287000">
                <a:moveTo>
                  <a:pt x="0" y="0"/>
                </a:moveTo>
                <a:lnTo>
                  <a:pt x="6912767" y="0"/>
                </a:lnTo>
                <a:lnTo>
                  <a:pt x="6912767" y="10287000"/>
                </a:lnTo>
                <a:lnTo>
                  <a:pt x="0" y="10287000"/>
                </a:lnTo>
                <a:lnTo>
                  <a:pt x="0" y="0"/>
                </a:lnTo>
                <a:close/>
              </a:path>
            </a:pathLst>
          </a:custGeom>
          <a:blipFill>
            <a:blip r:embed="rId2"/>
            <a:stretch>
              <a:fillRect l="-26224" r="-96992"/>
            </a:stretch>
          </a:blipFill>
        </p:spPr>
      </p:sp>
      <p:sp>
        <p:nvSpPr>
          <p:cNvPr id="3" name="TextBox 3"/>
          <p:cNvSpPr txBox="1"/>
          <p:nvPr/>
        </p:nvSpPr>
        <p:spPr>
          <a:xfrm>
            <a:off x="8097063" y="549909"/>
            <a:ext cx="9162237" cy="1828800"/>
          </a:xfrm>
          <a:prstGeom prst="rect">
            <a:avLst/>
          </a:prstGeom>
        </p:spPr>
        <p:txBody>
          <a:bodyPr lIns="0" tIns="0" rIns="0" bIns="0" rtlCol="0" anchor="t">
            <a:spAutoFit/>
          </a:bodyPr>
          <a:lstStyle/>
          <a:p>
            <a:pPr>
              <a:lnSpc>
                <a:spcPts val="7230"/>
              </a:lnSpc>
            </a:pPr>
            <a:r>
              <a:rPr lang="en-US" sz="6025">
                <a:solidFill>
                  <a:srgbClr val="2B4B82"/>
                </a:solidFill>
                <a:latin typeface="Josefin Sans Bold"/>
              </a:rPr>
              <a:t>Giới thiệu xây dụng về đồ án Web Blog</a:t>
            </a:r>
          </a:p>
        </p:txBody>
      </p:sp>
      <p:sp>
        <p:nvSpPr>
          <p:cNvPr id="4" name="TextBox 4"/>
          <p:cNvSpPr txBox="1"/>
          <p:nvPr/>
        </p:nvSpPr>
        <p:spPr>
          <a:xfrm>
            <a:off x="7737803" y="2579025"/>
            <a:ext cx="9880756" cy="6679275"/>
          </a:xfrm>
          <a:prstGeom prst="rect">
            <a:avLst/>
          </a:prstGeom>
        </p:spPr>
        <p:txBody>
          <a:bodyPr lIns="0" tIns="0" rIns="0" bIns="0" rtlCol="0" anchor="t">
            <a:spAutoFit/>
          </a:bodyPr>
          <a:lstStyle/>
          <a:p>
            <a:pPr algn="just">
              <a:lnSpc>
                <a:spcPts val="4075"/>
              </a:lnSpc>
              <a:spcBef>
                <a:spcPct val="0"/>
              </a:spcBef>
            </a:pPr>
            <a:r>
              <a:rPr lang="en-US" sz="2911">
                <a:solidFill>
                  <a:srgbClr val="2B4B82"/>
                </a:solidFill>
                <a:latin typeface="Josefin Sans"/>
              </a:rPr>
              <a:t>Đồ án này hướng đến xây dựng một trang web blog hoàn chỉnh sử dụng ngôn ngữ lập trình Python và framework Django. Blog sẽ cung cấp nền tảng cho người dùng đăng tải, chia sẻ bài viết, hình ảnh, video và tương tác với nhau. </a:t>
            </a:r>
          </a:p>
          <a:p>
            <a:pPr algn="just">
              <a:lnSpc>
                <a:spcPts val="4075"/>
              </a:lnSpc>
              <a:spcBef>
                <a:spcPct val="0"/>
              </a:spcBef>
            </a:pPr>
            <a:r>
              <a:rPr lang="en-US" sz="2911">
                <a:solidFill>
                  <a:srgbClr val="2B4B82"/>
                </a:solidFill>
                <a:latin typeface="Josefin Sans"/>
              </a:rPr>
              <a:t>Các trang web blog cũng được tối ưu hóa cho công cụ tìm kiếm, giúp tăng khả năng xuất hiện trên các kết quả tìm kiếm và thu hút lượng lớn người đọc mới. Bằng cách sử dụng hệ thống quản lý nội dung tích hợp, tác giả có thể dễ dàng tạo và quản lý các bài viết, từ việc đăng bài mới đến sắp xếp, chỉnh sửa và xóa bài cũ.</a:t>
            </a:r>
          </a:p>
          <a:p>
            <a:pPr algn="just">
              <a:lnSpc>
                <a:spcPts val="4075"/>
              </a:lnSpc>
              <a:spcBef>
                <a:spcPct val="0"/>
              </a:spcBef>
            </a:pPr>
            <a:r>
              <a:rPr lang="en-US" sz="2911">
                <a:solidFill>
                  <a:srgbClr val="2B4B82"/>
                </a:solidFill>
                <a:latin typeface="Josefin Sans"/>
              </a:rPr>
              <a:t>Trang web blog cũng cung cấp các công cụ phân loại và tìm kiếm nội dung, giúp người đọc dễ dàng tìm thấy thông tin mà họ quan tâm nhất.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B4A7"/>
        </a:solidFill>
        <a:effectLst/>
      </p:bgPr>
    </p:bg>
    <p:spTree>
      <p:nvGrpSpPr>
        <p:cNvPr id="1" name=""/>
        <p:cNvGrpSpPr/>
        <p:nvPr/>
      </p:nvGrpSpPr>
      <p:grpSpPr>
        <a:xfrm>
          <a:off x="0" y="0"/>
          <a:ext cx="0" cy="0"/>
          <a:chOff x="0" y="0"/>
          <a:chExt cx="0" cy="0"/>
        </a:xfrm>
      </p:grpSpPr>
      <p:sp>
        <p:nvSpPr>
          <p:cNvPr id="2" name="Freeform 2"/>
          <p:cNvSpPr/>
          <p:nvPr/>
        </p:nvSpPr>
        <p:spPr>
          <a:xfrm>
            <a:off x="12644138" y="-1828549"/>
            <a:ext cx="6414740" cy="6631780"/>
          </a:xfrm>
          <a:custGeom>
            <a:avLst/>
            <a:gdLst/>
            <a:ahLst/>
            <a:cxnLst/>
            <a:rect l="l" t="t" r="r" b="b"/>
            <a:pathLst>
              <a:path w="6414740" h="6631780">
                <a:moveTo>
                  <a:pt x="0" y="0"/>
                </a:moveTo>
                <a:lnTo>
                  <a:pt x="6414740" y="0"/>
                </a:lnTo>
                <a:lnTo>
                  <a:pt x="6414740" y="6631780"/>
                </a:lnTo>
                <a:lnTo>
                  <a:pt x="0" y="66317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9144000" y="5017246"/>
            <a:ext cx="9144000" cy="5034915"/>
          </a:xfrm>
          <a:prstGeom prst="rect">
            <a:avLst/>
          </a:prstGeom>
        </p:spPr>
        <p:txBody>
          <a:bodyPr lIns="0" tIns="0" rIns="0" bIns="0" rtlCol="0" anchor="t">
            <a:spAutoFit/>
          </a:bodyPr>
          <a:lstStyle/>
          <a:p>
            <a:pPr>
              <a:lnSpc>
                <a:spcPts val="3359"/>
              </a:lnSpc>
            </a:pPr>
            <a:r>
              <a:rPr lang="en-US" sz="2400">
                <a:solidFill>
                  <a:srgbClr val="2B4B82"/>
                </a:solidFill>
                <a:latin typeface="Josefin Sans"/>
              </a:rPr>
              <a:t>Python (Django framework)</a:t>
            </a:r>
          </a:p>
          <a:p>
            <a:pPr marL="518160" lvl="1" indent="-259080">
              <a:lnSpc>
                <a:spcPts val="3359"/>
              </a:lnSpc>
              <a:buFont typeface="Arial"/>
              <a:buChar char="•"/>
            </a:pPr>
            <a:r>
              <a:rPr lang="en-US" sz="2400">
                <a:solidFill>
                  <a:srgbClr val="2B4B82"/>
                </a:solidFill>
                <a:latin typeface="Josefin Sans"/>
              </a:rPr>
              <a:t>Django là framework web mạnh mẽ, dễ sử dụng, được ưa chuộng trong phát triển web.</a:t>
            </a:r>
          </a:p>
          <a:p>
            <a:pPr marL="518160" lvl="1" indent="-259080">
              <a:lnSpc>
                <a:spcPts val="3359"/>
              </a:lnSpc>
              <a:buFont typeface="Arial"/>
              <a:buChar char="•"/>
            </a:pPr>
            <a:r>
              <a:rPr lang="en-US" sz="2400">
                <a:solidFill>
                  <a:srgbClr val="2B4B82"/>
                </a:solidFill>
                <a:latin typeface="Josefin Sans"/>
              </a:rPr>
              <a:t>Django cung cấp nhiều thư viện và công cụ hỗ trợ các chức năng cần thiết cho blog.</a:t>
            </a:r>
          </a:p>
          <a:p>
            <a:pPr>
              <a:lnSpc>
                <a:spcPts val="3359"/>
              </a:lnSpc>
            </a:pPr>
            <a:r>
              <a:rPr lang="en-US" sz="2400">
                <a:solidFill>
                  <a:srgbClr val="2B4B82"/>
                </a:solidFill>
                <a:latin typeface="Josefin Sans"/>
              </a:rPr>
              <a:t>Giao diện người dùng: HTML, CSS, JavaScript</a:t>
            </a:r>
          </a:p>
          <a:p>
            <a:pPr marL="518160" lvl="1" indent="-259080">
              <a:lnSpc>
                <a:spcPts val="3359"/>
              </a:lnSpc>
              <a:buFont typeface="Arial"/>
              <a:buChar char="•"/>
            </a:pPr>
            <a:r>
              <a:rPr lang="en-US" sz="2400">
                <a:solidFill>
                  <a:srgbClr val="2B4B82"/>
                </a:solidFill>
                <a:latin typeface="Josefin Sans"/>
              </a:rPr>
              <a:t>HTML là ngôn ngữ chuẩn để tạo cấu trúc nội dung trang web.</a:t>
            </a:r>
          </a:p>
          <a:p>
            <a:pPr marL="518160" lvl="1" indent="-259080">
              <a:lnSpc>
                <a:spcPts val="3359"/>
              </a:lnSpc>
              <a:buFont typeface="Arial"/>
              <a:buChar char="•"/>
            </a:pPr>
            <a:r>
              <a:rPr lang="en-US" sz="2400">
                <a:solidFill>
                  <a:srgbClr val="2B4B82"/>
                </a:solidFill>
                <a:latin typeface="Josefin Sans"/>
              </a:rPr>
              <a:t>CSS được sử dụng để định dạng giao diện trang web, tạo bố cục đẹp mắt.</a:t>
            </a:r>
          </a:p>
          <a:p>
            <a:pPr marL="518160" lvl="1" indent="-259080">
              <a:lnSpc>
                <a:spcPts val="3359"/>
              </a:lnSpc>
              <a:buFont typeface="Arial"/>
              <a:buChar char="•"/>
            </a:pPr>
            <a:r>
              <a:rPr lang="en-US" sz="2400">
                <a:solidFill>
                  <a:srgbClr val="2B4B82"/>
                </a:solidFill>
                <a:latin typeface="Josefin Sans"/>
              </a:rPr>
              <a:t>JavaScript giúp trang web tương tác và linh hoạt hơn.</a:t>
            </a:r>
          </a:p>
          <a:p>
            <a:pPr>
              <a:lnSpc>
                <a:spcPts val="3359"/>
              </a:lnSpc>
            </a:pPr>
            <a:endParaRPr lang="en-US" sz="2400">
              <a:solidFill>
                <a:srgbClr val="2B4B82"/>
              </a:solidFill>
              <a:latin typeface="Josefin Sans"/>
            </a:endParaRPr>
          </a:p>
        </p:txBody>
      </p:sp>
      <p:sp>
        <p:nvSpPr>
          <p:cNvPr id="4" name="TextBox 4"/>
          <p:cNvSpPr txBox="1"/>
          <p:nvPr/>
        </p:nvSpPr>
        <p:spPr>
          <a:xfrm>
            <a:off x="1028700" y="971550"/>
            <a:ext cx="5316166" cy="480231"/>
          </a:xfrm>
          <a:prstGeom prst="rect">
            <a:avLst/>
          </a:prstGeom>
        </p:spPr>
        <p:txBody>
          <a:bodyPr lIns="0" tIns="0" rIns="0" bIns="0" rtlCol="0" anchor="t">
            <a:spAutoFit/>
          </a:bodyPr>
          <a:lstStyle/>
          <a:p>
            <a:pPr>
              <a:lnSpc>
                <a:spcPts val="3920"/>
              </a:lnSpc>
            </a:pPr>
            <a:r>
              <a:rPr lang="en-US" sz="2800">
                <a:solidFill>
                  <a:srgbClr val="2B4B82"/>
                </a:solidFill>
                <a:latin typeface="Josefin Sans Bold"/>
              </a:rPr>
              <a:t>Triển khai các chức năng chính</a:t>
            </a:r>
          </a:p>
        </p:txBody>
      </p:sp>
      <p:sp>
        <p:nvSpPr>
          <p:cNvPr id="5" name="TextBox 5"/>
          <p:cNvSpPr txBox="1"/>
          <p:nvPr/>
        </p:nvSpPr>
        <p:spPr>
          <a:xfrm>
            <a:off x="1028700" y="1708785"/>
            <a:ext cx="7242899" cy="7549515"/>
          </a:xfrm>
          <a:prstGeom prst="rect">
            <a:avLst/>
          </a:prstGeom>
        </p:spPr>
        <p:txBody>
          <a:bodyPr lIns="0" tIns="0" rIns="0" bIns="0" rtlCol="0" anchor="t">
            <a:spAutoFit/>
          </a:bodyPr>
          <a:lstStyle/>
          <a:p>
            <a:pPr algn="just">
              <a:lnSpc>
                <a:spcPts val="3359"/>
              </a:lnSpc>
            </a:pPr>
            <a:r>
              <a:rPr lang="en-US" sz="2400">
                <a:solidFill>
                  <a:srgbClr val="2B4B82"/>
                </a:solidFill>
                <a:latin typeface="Josefin Sans"/>
              </a:rPr>
              <a:t>Hệ thống quản lý bài viết:</a:t>
            </a:r>
          </a:p>
          <a:p>
            <a:pPr marL="518160" lvl="1" indent="-259080" algn="just">
              <a:lnSpc>
                <a:spcPts val="3359"/>
              </a:lnSpc>
              <a:buFont typeface="Arial"/>
              <a:buChar char="•"/>
            </a:pPr>
            <a:r>
              <a:rPr lang="en-US" sz="2400">
                <a:solidFill>
                  <a:srgbClr val="2B4B82"/>
                </a:solidFill>
                <a:latin typeface="Josefin Sans"/>
              </a:rPr>
              <a:t>Tạo, sửa, xóa bài viết.</a:t>
            </a:r>
          </a:p>
          <a:p>
            <a:pPr marL="518160" lvl="1" indent="-259080" algn="just">
              <a:lnSpc>
                <a:spcPts val="3359"/>
              </a:lnSpc>
              <a:buFont typeface="Arial"/>
              <a:buChar char="•"/>
            </a:pPr>
            <a:r>
              <a:rPr lang="en-US" sz="2400">
                <a:solidFill>
                  <a:srgbClr val="2B4B82"/>
                </a:solidFill>
                <a:latin typeface="Josefin Sans"/>
              </a:rPr>
              <a:t>Phân loại bài viết theo chủ đề, tag,...</a:t>
            </a:r>
          </a:p>
          <a:p>
            <a:pPr marL="518160" lvl="1" indent="-259080" algn="just">
              <a:lnSpc>
                <a:spcPts val="3359"/>
              </a:lnSpc>
              <a:buFont typeface="Arial"/>
              <a:buChar char="•"/>
            </a:pPr>
            <a:r>
              <a:rPr lang="en-US" sz="2400">
                <a:solidFill>
                  <a:srgbClr val="2B4B82"/>
                </a:solidFill>
                <a:latin typeface="Josefin Sans"/>
              </a:rPr>
              <a:t>Hỗ trợ định dạng văn bản, chèn hình ảnh, video.</a:t>
            </a:r>
          </a:p>
          <a:p>
            <a:pPr marL="518160" lvl="1" indent="-259080" algn="just">
              <a:lnSpc>
                <a:spcPts val="3359"/>
              </a:lnSpc>
              <a:buFont typeface="Arial"/>
              <a:buChar char="•"/>
            </a:pPr>
            <a:r>
              <a:rPr lang="en-US" sz="2400">
                <a:solidFill>
                  <a:srgbClr val="2B4B82"/>
                </a:solidFill>
                <a:latin typeface="Josefin Sans"/>
              </a:rPr>
              <a:t>Tự động tạo tóm tắt bài viết.</a:t>
            </a:r>
          </a:p>
          <a:p>
            <a:pPr algn="just">
              <a:lnSpc>
                <a:spcPts val="3359"/>
              </a:lnSpc>
            </a:pPr>
            <a:r>
              <a:rPr lang="en-US" sz="2400">
                <a:solidFill>
                  <a:srgbClr val="2B4B82"/>
                </a:solidFill>
                <a:latin typeface="Josefin Sans"/>
              </a:rPr>
              <a:t>Hệ thống quản lý hình ảnh, video:</a:t>
            </a:r>
          </a:p>
          <a:p>
            <a:pPr marL="518160" lvl="1" indent="-259080" algn="just">
              <a:lnSpc>
                <a:spcPts val="3359"/>
              </a:lnSpc>
              <a:buFont typeface="Arial"/>
              <a:buChar char="•"/>
            </a:pPr>
            <a:r>
              <a:rPr lang="en-US" sz="2400">
                <a:solidFill>
                  <a:srgbClr val="2B4B82"/>
                </a:solidFill>
                <a:latin typeface="Josefin Sans"/>
              </a:rPr>
              <a:t>Tải lên, lưu trữ hình ảnh, video.</a:t>
            </a:r>
          </a:p>
          <a:p>
            <a:pPr marL="518160" lvl="1" indent="-259080" algn="just">
              <a:lnSpc>
                <a:spcPts val="3359"/>
              </a:lnSpc>
              <a:buFont typeface="Arial"/>
              <a:buChar char="•"/>
            </a:pPr>
            <a:r>
              <a:rPr lang="en-US" sz="2400">
                <a:solidFill>
                  <a:srgbClr val="2B4B82"/>
                </a:solidFill>
                <a:latin typeface="Josefin Sans"/>
              </a:rPr>
              <a:t>Chèn hình ảnh, video vào bài viết.</a:t>
            </a:r>
          </a:p>
          <a:p>
            <a:pPr marL="518160" lvl="1" indent="-259080" algn="just">
              <a:lnSpc>
                <a:spcPts val="3359"/>
              </a:lnSpc>
              <a:buFont typeface="Arial"/>
              <a:buChar char="•"/>
            </a:pPr>
            <a:r>
              <a:rPr lang="en-US" sz="2400">
                <a:solidFill>
                  <a:srgbClr val="2B4B82"/>
                </a:solidFill>
                <a:latin typeface="Josefin Sans"/>
              </a:rPr>
              <a:t>Hiển thị hình ảnh, video trực tiếp trên trang web.</a:t>
            </a:r>
          </a:p>
          <a:p>
            <a:pPr algn="just">
              <a:lnSpc>
                <a:spcPts val="3359"/>
              </a:lnSpc>
            </a:pPr>
            <a:r>
              <a:rPr lang="en-US" sz="2400">
                <a:solidFill>
                  <a:srgbClr val="2B4B82"/>
                </a:solidFill>
                <a:latin typeface="Josefin Sans"/>
              </a:rPr>
              <a:t>Hệ thống quản lý người dùng:</a:t>
            </a:r>
          </a:p>
          <a:p>
            <a:pPr marL="518160" lvl="1" indent="-259080" algn="just">
              <a:lnSpc>
                <a:spcPts val="3359"/>
              </a:lnSpc>
              <a:buFont typeface="Arial"/>
              <a:buChar char="•"/>
            </a:pPr>
            <a:r>
              <a:rPr lang="en-US" sz="2400">
                <a:solidFill>
                  <a:srgbClr val="2B4B82"/>
                </a:solidFill>
                <a:latin typeface="Josefin Sans"/>
              </a:rPr>
              <a:t>Đăng ký, đăng nhập tài khoản người dùng.</a:t>
            </a:r>
          </a:p>
          <a:p>
            <a:pPr marL="518160" lvl="1" indent="-259080" algn="just">
              <a:lnSpc>
                <a:spcPts val="3359"/>
              </a:lnSpc>
              <a:buFont typeface="Arial"/>
              <a:buChar char="•"/>
            </a:pPr>
            <a:r>
              <a:rPr lang="en-US" sz="2400">
                <a:solidFill>
                  <a:srgbClr val="2B4B82"/>
                </a:solidFill>
                <a:latin typeface="Josefin Sans"/>
              </a:rPr>
              <a:t>Quản lý thông tin cá nhân, cài đặt tài khoản.</a:t>
            </a:r>
          </a:p>
          <a:p>
            <a:pPr marL="518160" lvl="1" indent="-259080" algn="just">
              <a:lnSpc>
                <a:spcPts val="3359"/>
              </a:lnSpc>
              <a:buFont typeface="Arial"/>
              <a:buChar char="•"/>
            </a:pPr>
            <a:r>
              <a:rPr lang="en-US" sz="2400">
                <a:solidFill>
                  <a:srgbClr val="2B4B82"/>
                </a:solidFill>
                <a:latin typeface="Josefin Sans"/>
              </a:rPr>
              <a:t>Phân quyền cho người dùng (quản trị viên, tác giả, người đọc).</a:t>
            </a:r>
          </a:p>
          <a:p>
            <a:pPr algn="just">
              <a:lnSpc>
                <a:spcPts val="3359"/>
              </a:lnSpc>
            </a:pPr>
            <a:r>
              <a:rPr lang="en-US" sz="2400">
                <a:solidFill>
                  <a:srgbClr val="2B4B82"/>
                </a:solidFill>
                <a:latin typeface="Josefin Sans"/>
              </a:rPr>
              <a:t>Đảm bảo tính bảo mật:</a:t>
            </a:r>
          </a:p>
          <a:p>
            <a:pPr marL="518160" lvl="1" indent="-259080" algn="just">
              <a:lnSpc>
                <a:spcPts val="3359"/>
              </a:lnSpc>
              <a:buFont typeface="Arial"/>
              <a:buChar char="•"/>
            </a:pPr>
            <a:r>
              <a:rPr lang="en-US" sz="2400">
                <a:solidFill>
                  <a:srgbClr val="2B4B82"/>
                </a:solidFill>
                <a:latin typeface="Josefin Sans"/>
              </a:rPr>
              <a:t>Áp dụng các biện pháp bảo mật để bảo vệ dữ liệu người dùng và hệ thống.</a:t>
            </a:r>
          </a:p>
          <a:p>
            <a:pPr marL="518160" lvl="1" indent="-259080" algn="just">
              <a:lnSpc>
                <a:spcPts val="3359"/>
              </a:lnSpc>
              <a:buFont typeface="Arial"/>
              <a:buChar char="•"/>
            </a:pPr>
            <a:r>
              <a:rPr lang="en-US" sz="2400">
                <a:solidFill>
                  <a:srgbClr val="2B4B82"/>
                </a:solidFill>
                <a:latin typeface="Josefin Sans"/>
              </a:rPr>
              <a:t>Ngăn chặn truy cập trái phép, tấn công mạng.</a:t>
            </a:r>
          </a:p>
        </p:txBody>
      </p:sp>
      <p:sp>
        <p:nvSpPr>
          <p:cNvPr id="6" name="TextBox 6"/>
          <p:cNvSpPr txBox="1"/>
          <p:nvPr/>
        </p:nvSpPr>
        <p:spPr>
          <a:xfrm>
            <a:off x="9144000" y="4343980"/>
            <a:ext cx="4310914" cy="480231"/>
          </a:xfrm>
          <a:prstGeom prst="rect">
            <a:avLst/>
          </a:prstGeom>
        </p:spPr>
        <p:txBody>
          <a:bodyPr lIns="0" tIns="0" rIns="0" bIns="0" rtlCol="0" anchor="t">
            <a:spAutoFit/>
          </a:bodyPr>
          <a:lstStyle/>
          <a:p>
            <a:pPr>
              <a:lnSpc>
                <a:spcPts val="3920"/>
              </a:lnSpc>
            </a:pPr>
            <a:r>
              <a:rPr lang="en-US" sz="2800">
                <a:solidFill>
                  <a:srgbClr val="2B4B82"/>
                </a:solidFill>
                <a:latin typeface="Josefin Sans Bold"/>
              </a:rPr>
              <a:t>Ngôn ngữ lập trình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2" name="Freeform 2"/>
          <p:cNvSpPr/>
          <p:nvPr/>
        </p:nvSpPr>
        <p:spPr>
          <a:xfrm>
            <a:off x="10476342" y="1951228"/>
            <a:ext cx="6338112" cy="6384545"/>
          </a:xfrm>
          <a:custGeom>
            <a:avLst/>
            <a:gdLst/>
            <a:ahLst/>
            <a:cxnLst/>
            <a:rect l="l" t="t" r="r" b="b"/>
            <a:pathLst>
              <a:path w="6338112" h="6384545">
                <a:moveTo>
                  <a:pt x="0" y="0"/>
                </a:moveTo>
                <a:lnTo>
                  <a:pt x="6338112" y="0"/>
                </a:lnTo>
                <a:lnTo>
                  <a:pt x="6338112" y="6384544"/>
                </a:lnTo>
                <a:lnTo>
                  <a:pt x="0" y="6384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615956" y="4476750"/>
            <a:ext cx="8489114" cy="1314450"/>
          </a:xfrm>
          <a:prstGeom prst="rect">
            <a:avLst/>
          </a:prstGeom>
        </p:spPr>
        <p:txBody>
          <a:bodyPr lIns="0" tIns="0" rIns="0" bIns="0" rtlCol="0" anchor="t">
            <a:spAutoFit/>
          </a:bodyPr>
          <a:lstStyle/>
          <a:p>
            <a:pPr>
              <a:lnSpc>
                <a:spcPts val="10200"/>
              </a:lnSpc>
            </a:pPr>
            <a:r>
              <a:rPr lang="en-US" sz="8500">
                <a:solidFill>
                  <a:srgbClr val="F7B4A7"/>
                </a:solidFill>
                <a:latin typeface="Josefin Sans Bold"/>
              </a:rPr>
              <a:t>Triển khai dự án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0" y="-963412"/>
            <a:ext cx="4597438" cy="2842053"/>
          </a:xfrm>
          <a:custGeom>
            <a:avLst/>
            <a:gdLst/>
            <a:ahLst/>
            <a:cxnLst/>
            <a:rect l="l" t="t" r="r" b="b"/>
            <a:pathLst>
              <a:path w="4597438" h="2842053">
                <a:moveTo>
                  <a:pt x="0" y="0"/>
                </a:moveTo>
                <a:lnTo>
                  <a:pt x="4597438" y="0"/>
                </a:lnTo>
                <a:lnTo>
                  <a:pt x="4597438" y="2842052"/>
                </a:lnTo>
                <a:lnTo>
                  <a:pt x="0" y="2842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10551837" y="390596"/>
            <a:ext cx="2076668" cy="1276207"/>
          </a:xfrm>
          <a:custGeom>
            <a:avLst/>
            <a:gdLst/>
            <a:ahLst/>
            <a:cxnLst/>
            <a:rect l="l" t="t" r="r" b="b"/>
            <a:pathLst>
              <a:path w="2076668" h="1276207">
                <a:moveTo>
                  <a:pt x="2076668" y="0"/>
                </a:moveTo>
                <a:lnTo>
                  <a:pt x="0" y="0"/>
                </a:lnTo>
                <a:lnTo>
                  <a:pt x="0" y="1276208"/>
                </a:lnTo>
                <a:lnTo>
                  <a:pt x="2076668" y="1276208"/>
                </a:lnTo>
                <a:lnTo>
                  <a:pt x="2076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3138681" y="-2447996"/>
            <a:ext cx="3837986" cy="4114800"/>
          </a:xfrm>
          <a:custGeom>
            <a:avLst/>
            <a:gdLst/>
            <a:ahLst/>
            <a:cxnLst/>
            <a:rect l="l" t="t" r="r" b="b"/>
            <a:pathLst>
              <a:path w="3837986" h="4114800">
                <a:moveTo>
                  <a:pt x="0" y="0"/>
                </a:moveTo>
                <a:lnTo>
                  <a:pt x="3837987" y="0"/>
                </a:lnTo>
                <a:lnTo>
                  <a:pt x="383798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994246" y="-3759204"/>
            <a:ext cx="5357753" cy="5591583"/>
          </a:xfrm>
          <a:custGeom>
            <a:avLst/>
            <a:gdLst/>
            <a:ahLst/>
            <a:cxnLst/>
            <a:rect l="l" t="t" r="r" b="b"/>
            <a:pathLst>
              <a:path w="5357753" h="5591583">
                <a:moveTo>
                  <a:pt x="0" y="0"/>
                </a:moveTo>
                <a:lnTo>
                  <a:pt x="5357752" y="0"/>
                </a:lnTo>
                <a:lnTo>
                  <a:pt x="5357752" y="5591583"/>
                </a:lnTo>
                <a:lnTo>
                  <a:pt x="0" y="559158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2045166" y="2767505"/>
            <a:ext cx="5898159" cy="7120386"/>
          </a:xfrm>
          <a:custGeom>
            <a:avLst/>
            <a:gdLst/>
            <a:ahLst/>
            <a:cxnLst/>
            <a:rect l="l" t="t" r="r" b="b"/>
            <a:pathLst>
              <a:path w="5898159" h="7120386">
                <a:moveTo>
                  <a:pt x="0" y="0"/>
                </a:moveTo>
                <a:lnTo>
                  <a:pt x="5898159" y="0"/>
                </a:lnTo>
                <a:lnTo>
                  <a:pt x="5898159" y="7120387"/>
                </a:lnTo>
                <a:lnTo>
                  <a:pt x="0" y="7120387"/>
                </a:lnTo>
                <a:lnTo>
                  <a:pt x="0" y="0"/>
                </a:lnTo>
                <a:close/>
              </a:path>
            </a:pathLst>
          </a:custGeom>
          <a:blipFill>
            <a:blip r:embed="rId10"/>
            <a:stretch>
              <a:fillRect l="-144584" r="-141170" b="-56656"/>
            </a:stretch>
          </a:blipFill>
        </p:spPr>
      </p:sp>
      <p:sp>
        <p:nvSpPr>
          <p:cNvPr id="7" name="Freeform 7"/>
          <p:cNvSpPr/>
          <p:nvPr/>
        </p:nvSpPr>
        <p:spPr>
          <a:xfrm>
            <a:off x="8593948" y="3816126"/>
            <a:ext cx="8069115" cy="5023146"/>
          </a:xfrm>
          <a:custGeom>
            <a:avLst/>
            <a:gdLst/>
            <a:ahLst/>
            <a:cxnLst/>
            <a:rect l="l" t="t" r="r" b="b"/>
            <a:pathLst>
              <a:path w="8069115" h="5023146">
                <a:moveTo>
                  <a:pt x="0" y="0"/>
                </a:moveTo>
                <a:lnTo>
                  <a:pt x="8069115" y="0"/>
                </a:lnTo>
                <a:lnTo>
                  <a:pt x="8069115" y="5023146"/>
                </a:lnTo>
                <a:lnTo>
                  <a:pt x="0" y="5023146"/>
                </a:lnTo>
                <a:lnTo>
                  <a:pt x="0" y="0"/>
                </a:lnTo>
                <a:close/>
              </a:path>
            </a:pathLst>
          </a:custGeom>
          <a:blipFill>
            <a:blip r:embed="rId11"/>
            <a:stretch>
              <a:fillRect l="-90313" t="-59480" r="-90379" b="-62039"/>
            </a:stretch>
          </a:blipFill>
        </p:spPr>
      </p:sp>
      <p:sp>
        <p:nvSpPr>
          <p:cNvPr id="8" name="TextBox 8"/>
          <p:cNvSpPr txBox="1"/>
          <p:nvPr/>
        </p:nvSpPr>
        <p:spPr>
          <a:xfrm>
            <a:off x="4219967" y="2036198"/>
            <a:ext cx="1548557" cy="507075"/>
          </a:xfrm>
          <a:prstGeom prst="rect">
            <a:avLst/>
          </a:prstGeom>
        </p:spPr>
        <p:txBody>
          <a:bodyPr lIns="0" tIns="0" rIns="0" bIns="0" rtlCol="0" anchor="t">
            <a:spAutoFit/>
          </a:bodyPr>
          <a:lstStyle/>
          <a:p>
            <a:pPr algn="ctr">
              <a:lnSpc>
                <a:spcPts val="4075"/>
              </a:lnSpc>
              <a:spcBef>
                <a:spcPct val="0"/>
              </a:spcBef>
            </a:pPr>
            <a:r>
              <a:rPr lang="en-US" sz="2911">
                <a:solidFill>
                  <a:srgbClr val="000000"/>
                </a:solidFill>
                <a:latin typeface="Josefin Sans Bold"/>
              </a:rPr>
              <a:t>Đăng Ký</a:t>
            </a:r>
          </a:p>
        </p:txBody>
      </p:sp>
      <p:sp>
        <p:nvSpPr>
          <p:cNvPr id="9" name="TextBox 9"/>
          <p:cNvSpPr txBox="1"/>
          <p:nvPr/>
        </p:nvSpPr>
        <p:spPr>
          <a:xfrm>
            <a:off x="11634631" y="3030417"/>
            <a:ext cx="1987748" cy="507075"/>
          </a:xfrm>
          <a:prstGeom prst="rect">
            <a:avLst/>
          </a:prstGeom>
        </p:spPr>
        <p:txBody>
          <a:bodyPr lIns="0" tIns="0" rIns="0" bIns="0" rtlCol="0" anchor="t">
            <a:spAutoFit/>
          </a:bodyPr>
          <a:lstStyle/>
          <a:p>
            <a:pPr algn="ctr">
              <a:lnSpc>
                <a:spcPts val="4075"/>
              </a:lnSpc>
              <a:spcBef>
                <a:spcPct val="0"/>
              </a:spcBef>
            </a:pPr>
            <a:r>
              <a:rPr lang="en-US" sz="2911">
                <a:solidFill>
                  <a:srgbClr val="000000"/>
                </a:solidFill>
                <a:latin typeface="Josefin Sans Bold"/>
              </a:rPr>
              <a:t>Đăng nhập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0" y="-963412"/>
            <a:ext cx="4597438" cy="2842053"/>
          </a:xfrm>
          <a:custGeom>
            <a:avLst/>
            <a:gdLst/>
            <a:ahLst/>
            <a:cxnLst/>
            <a:rect l="l" t="t" r="r" b="b"/>
            <a:pathLst>
              <a:path w="4597438" h="2842053">
                <a:moveTo>
                  <a:pt x="0" y="0"/>
                </a:moveTo>
                <a:lnTo>
                  <a:pt x="4597438" y="0"/>
                </a:lnTo>
                <a:lnTo>
                  <a:pt x="4597438" y="2842052"/>
                </a:lnTo>
                <a:lnTo>
                  <a:pt x="0" y="2842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10551837" y="390596"/>
            <a:ext cx="2076668" cy="1276207"/>
          </a:xfrm>
          <a:custGeom>
            <a:avLst/>
            <a:gdLst/>
            <a:ahLst/>
            <a:cxnLst/>
            <a:rect l="l" t="t" r="r" b="b"/>
            <a:pathLst>
              <a:path w="2076668" h="1276207">
                <a:moveTo>
                  <a:pt x="2076668" y="0"/>
                </a:moveTo>
                <a:lnTo>
                  <a:pt x="0" y="0"/>
                </a:lnTo>
                <a:lnTo>
                  <a:pt x="0" y="1276208"/>
                </a:lnTo>
                <a:lnTo>
                  <a:pt x="2076668" y="1276208"/>
                </a:lnTo>
                <a:lnTo>
                  <a:pt x="2076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3138681" y="-2447996"/>
            <a:ext cx="3837986" cy="4114800"/>
          </a:xfrm>
          <a:custGeom>
            <a:avLst/>
            <a:gdLst/>
            <a:ahLst/>
            <a:cxnLst/>
            <a:rect l="l" t="t" r="r" b="b"/>
            <a:pathLst>
              <a:path w="3837986" h="4114800">
                <a:moveTo>
                  <a:pt x="0" y="0"/>
                </a:moveTo>
                <a:lnTo>
                  <a:pt x="3837987" y="0"/>
                </a:lnTo>
                <a:lnTo>
                  <a:pt x="383798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994246" y="-3759204"/>
            <a:ext cx="5357753" cy="5591583"/>
          </a:xfrm>
          <a:custGeom>
            <a:avLst/>
            <a:gdLst/>
            <a:ahLst/>
            <a:cxnLst/>
            <a:rect l="l" t="t" r="r" b="b"/>
            <a:pathLst>
              <a:path w="5357753" h="5591583">
                <a:moveTo>
                  <a:pt x="0" y="0"/>
                </a:moveTo>
                <a:lnTo>
                  <a:pt x="5357752" y="0"/>
                </a:lnTo>
                <a:lnTo>
                  <a:pt x="5357752" y="5591583"/>
                </a:lnTo>
                <a:lnTo>
                  <a:pt x="0" y="559158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TextBox 7"/>
          <p:cNvSpPr txBox="1"/>
          <p:nvPr/>
        </p:nvSpPr>
        <p:spPr>
          <a:xfrm>
            <a:off x="7533308" y="2477528"/>
            <a:ext cx="3221385" cy="507075"/>
          </a:xfrm>
          <a:prstGeom prst="rect">
            <a:avLst/>
          </a:prstGeom>
        </p:spPr>
        <p:txBody>
          <a:bodyPr lIns="0" tIns="0" rIns="0" bIns="0" rtlCol="0" anchor="t">
            <a:spAutoFit/>
          </a:bodyPr>
          <a:lstStyle/>
          <a:p>
            <a:pPr algn="ctr">
              <a:lnSpc>
                <a:spcPts val="4075"/>
              </a:lnSpc>
              <a:spcBef>
                <a:spcPct val="0"/>
              </a:spcBef>
            </a:pPr>
            <a:r>
              <a:rPr lang="en-US" sz="2911">
                <a:solidFill>
                  <a:srgbClr val="000000"/>
                </a:solidFill>
                <a:latin typeface="Josefin Sans Bold"/>
              </a:rPr>
              <a:t>Thông tin cá nhân</a:t>
            </a:r>
          </a:p>
        </p:txBody>
      </p:sp>
      <p:pic>
        <p:nvPicPr>
          <p:cNvPr id="8" name="Picture 7">
            <a:extLst>
              <a:ext uri="{FF2B5EF4-FFF2-40B4-BE49-F238E27FC236}">
                <a16:creationId xmlns:a16="http://schemas.microsoft.com/office/drawing/2014/main" id="{00237D31-E93E-7078-6167-940A7F47DD5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472433" y="3795328"/>
            <a:ext cx="11343133" cy="559158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0" y="-963412"/>
            <a:ext cx="4597438" cy="2842053"/>
          </a:xfrm>
          <a:custGeom>
            <a:avLst/>
            <a:gdLst/>
            <a:ahLst/>
            <a:cxnLst/>
            <a:rect l="l" t="t" r="r" b="b"/>
            <a:pathLst>
              <a:path w="4597438" h="2842053">
                <a:moveTo>
                  <a:pt x="0" y="0"/>
                </a:moveTo>
                <a:lnTo>
                  <a:pt x="4597438" y="0"/>
                </a:lnTo>
                <a:lnTo>
                  <a:pt x="4597438" y="2842052"/>
                </a:lnTo>
                <a:lnTo>
                  <a:pt x="0" y="2842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10551837" y="390596"/>
            <a:ext cx="2076668" cy="1276207"/>
          </a:xfrm>
          <a:custGeom>
            <a:avLst/>
            <a:gdLst/>
            <a:ahLst/>
            <a:cxnLst/>
            <a:rect l="l" t="t" r="r" b="b"/>
            <a:pathLst>
              <a:path w="2076668" h="1276207">
                <a:moveTo>
                  <a:pt x="2076668" y="0"/>
                </a:moveTo>
                <a:lnTo>
                  <a:pt x="0" y="0"/>
                </a:lnTo>
                <a:lnTo>
                  <a:pt x="0" y="1276208"/>
                </a:lnTo>
                <a:lnTo>
                  <a:pt x="2076668" y="1276208"/>
                </a:lnTo>
                <a:lnTo>
                  <a:pt x="2076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3138681" y="-2447996"/>
            <a:ext cx="3837986" cy="4114800"/>
          </a:xfrm>
          <a:custGeom>
            <a:avLst/>
            <a:gdLst/>
            <a:ahLst/>
            <a:cxnLst/>
            <a:rect l="l" t="t" r="r" b="b"/>
            <a:pathLst>
              <a:path w="3837986" h="4114800">
                <a:moveTo>
                  <a:pt x="0" y="0"/>
                </a:moveTo>
                <a:lnTo>
                  <a:pt x="3837987" y="0"/>
                </a:lnTo>
                <a:lnTo>
                  <a:pt x="383798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994246" y="-3759204"/>
            <a:ext cx="5357753" cy="5591583"/>
          </a:xfrm>
          <a:custGeom>
            <a:avLst/>
            <a:gdLst/>
            <a:ahLst/>
            <a:cxnLst/>
            <a:rect l="l" t="t" r="r" b="b"/>
            <a:pathLst>
              <a:path w="5357753" h="5591583">
                <a:moveTo>
                  <a:pt x="0" y="0"/>
                </a:moveTo>
                <a:lnTo>
                  <a:pt x="5357752" y="0"/>
                </a:lnTo>
                <a:lnTo>
                  <a:pt x="5357752" y="5591583"/>
                </a:lnTo>
                <a:lnTo>
                  <a:pt x="0" y="559158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TextBox 7"/>
          <p:cNvSpPr txBox="1"/>
          <p:nvPr/>
        </p:nvSpPr>
        <p:spPr>
          <a:xfrm>
            <a:off x="7673122" y="2519020"/>
            <a:ext cx="2989511" cy="507075"/>
          </a:xfrm>
          <a:prstGeom prst="rect">
            <a:avLst/>
          </a:prstGeom>
        </p:spPr>
        <p:txBody>
          <a:bodyPr lIns="0" tIns="0" rIns="0" bIns="0" rtlCol="0" anchor="t">
            <a:spAutoFit/>
          </a:bodyPr>
          <a:lstStyle/>
          <a:p>
            <a:pPr algn="ctr">
              <a:lnSpc>
                <a:spcPts val="4075"/>
              </a:lnSpc>
              <a:spcBef>
                <a:spcPct val="0"/>
              </a:spcBef>
            </a:pPr>
            <a:r>
              <a:rPr lang="en-US" sz="2911">
                <a:solidFill>
                  <a:srgbClr val="000000"/>
                </a:solidFill>
                <a:latin typeface="Josefin Sans Bold"/>
              </a:rPr>
              <a:t>Thông tin liên hệ</a:t>
            </a:r>
          </a:p>
        </p:txBody>
      </p:sp>
      <p:pic>
        <p:nvPicPr>
          <p:cNvPr id="8" name="Picture 7">
            <a:extLst>
              <a:ext uri="{FF2B5EF4-FFF2-40B4-BE49-F238E27FC236}">
                <a16:creationId xmlns:a16="http://schemas.microsoft.com/office/drawing/2014/main" id="{A727F593-FFBA-97FF-44A3-AF7830E3CBAB}"/>
              </a:ext>
            </a:extLst>
          </p:cNvPr>
          <p:cNvPicPr>
            <a:picLocks noChangeAspect="1"/>
          </p:cNvPicPr>
          <p:nvPr/>
        </p:nvPicPr>
        <p:blipFill>
          <a:blip r:embed="rId10"/>
          <a:stretch>
            <a:fillRect/>
          </a:stretch>
        </p:blipFill>
        <p:spPr>
          <a:xfrm>
            <a:off x="3078138" y="3683156"/>
            <a:ext cx="12131723" cy="59543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0" y="-963412"/>
            <a:ext cx="4597438" cy="2842053"/>
          </a:xfrm>
          <a:custGeom>
            <a:avLst/>
            <a:gdLst/>
            <a:ahLst/>
            <a:cxnLst/>
            <a:rect l="l" t="t" r="r" b="b"/>
            <a:pathLst>
              <a:path w="4597438" h="2842053">
                <a:moveTo>
                  <a:pt x="0" y="0"/>
                </a:moveTo>
                <a:lnTo>
                  <a:pt x="4597438" y="0"/>
                </a:lnTo>
                <a:lnTo>
                  <a:pt x="4597438" y="2842052"/>
                </a:lnTo>
                <a:lnTo>
                  <a:pt x="0" y="2842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10551837" y="390596"/>
            <a:ext cx="2076668" cy="1276207"/>
          </a:xfrm>
          <a:custGeom>
            <a:avLst/>
            <a:gdLst/>
            <a:ahLst/>
            <a:cxnLst/>
            <a:rect l="l" t="t" r="r" b="b"/>
            <a:pathLst>
              <a:path w="2076668" h="1276207">
                <a:moveTo>
                  <a:pt x="2076668" y="0"/>
                </a:moveTo>
                <a:lnTo>
                  <a:pt x="0" y="0"/>
                </a:lnTo>
                <a:lnTo>
                  <a:pt x="0" y="1276208"/>
                </a:lnTo>
                <a:lnTo>
                  <a:pt x="2076668" y="1276208"/>
                </a:lnTo>
                <a:lnTo>
                  <a:pt x="2076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3138681" y="-2447996"/>
            <a:ext cx="3837986" cy="4114800"/>
          </a:xfrm>
          <a:custGeom>
            <a:avLst/>
            <a:gdLst/>
            <a:ahLst/>
            <a:cxnLst/>
            <a:rect l="l" t="t" r="r" b="b"/>
            <a:pathLst>
              <a:path w="3837986" h="4114800">
                <a:moveTo>
                  <a:pt x="0" y="0"/>
                </a:moveTo>
                <a:lnTo>
                  <a:pt x="3837987" y="0"/>
                </a:lnTo>
                <a:lnTo>
                  <a:pt x="383798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994246" y="-3759204"/>
            <a:ext cx="5357753" cy="5591583"/>
          </a:xfrm>
          <a:custGeom>
            <a:avLst/>
            <a:gdLst/>
            <a:ahLst/>
            <a:cxnLst/>
            <a:rect l="l" t="t" r="r" b="b"/>
            <a:pathLst>
              <a:path w="5357753" h="5591583">
                <a:moveTo>
                  <a:pt x="0" y="0"/>
                </a:moveTo>
                <a:lnTo>
                  <a:pt x="5357752" y="0"/>
                </a:lnTo>
                <a:lnTo>
                  <a:pt x="5357752" y="5591583"/>
                </a:lnTo>
                <a:lnTo>
                  <a:pt x="0" y="559158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TextBox 7"/>
          <p:cNvSpPr txBox="1"/>
          <p:nvPr/>
        </p:nvSpPr>
        <p:spPr>
          <a:xfrm>
            <a:off x="8317185" y="2527790"/>
            <a:ext cx="1653629" cy="507075"/>
          </a:xfrm>
          <a:prstGeom prst="rect">
            <a:avLst/>
          </a:prstGeom>
        </p:spPr>
        <p:txBody>
          <a:bodyPr lIns="0" tIns="0" rIns="0" bIns="0" rtlCol="0" anchor="t">
            <a:spAutoFit/>
          </a:bodyPr>
          <a:lstStyle/>
          <a:p>
            <a:pPr algn="ctr">
              <a:lnSpc>
                <a:spcPts val="4075"/>
              </a:lnSpc>
              <a:spcBef>
                <a:spcPct val="0"/>
              </a:spcBef>
            </a:pPr>
            <a:r>
              <a:rPr lang="en-US" sz="2911">
                <a:solidFill>
                  <a:srgbClr val="000000"/>
                </a:solidFill>
                <a:latin typeface="Josefin Sans Bold"/>
              </a:rPr>
              <a:t>Đăng bài</a:t>
            </a:r>
          </a:p>
        </p:txBody>
      </p:sp>
      <p:pic>
        <p:nvPicPr>
          <p:cNvPr id="8" name="Picture 7">
            <a:extLst>
              <a:ext uri="{FF2B5EF4-FFF2-40B4-BE49-F238E27FC236}">
                <a16:creationId xmlns:a16="http://schemas.microsoft.com/office/drawing/2014/main" id="{8C8C7B4C-FC44-12FC-F2B4-10AEEA6EA25E}"/>
              </a:ext>
            </a:extLst>
          </p:cNvPr>
          <p:cNvPicPr>
            <a:picLocks noChangeAspect="1"/>
          </p:cNvPicPr>
          <p:nvPr/>
        </p:nvPicPr>
        <p:blipFill>
          <a:blip r:embed="rId10"/>
          <a:stretch>
            <a:fillRect/>
          </a:stretch>
        </p:blipFill>
        <p:spPr>
          <a:xfrm>
            <a:off x="3716309" y="3756019"/>
            <a:ext cx="10855379" cy="53511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0" y="-963412"/>
            <a:ext cx="4597438" cy="2842053"/>
          </a:xfrm>
          <a:custGeom>
            <a:avLst/>
            <a:gdLst/>
            <a:ahLst/>
            <a:cxnLst/>
            <a:rect l="l" t="t" r="r" b="b"/>
            <a:pathLst>
              <a:path w="4597438" h="2842053">
                <a:moveTo>
                  <a:pt x="0" y="0"/>
                </a:moveTo>
                <a:lnTo>
                  <a:pt x="4597438" y="0"/>
                </a:lnTo>
                <a:lnTo>
                  <a:pt x="4597438" y="2842052"/>
                </a:lnTo>
                <a:lnTo>
                  <a:pt x="0" y="2842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10551837" y="390596"/>
            <a:ext cx="2076668" cy="1276207"/>
          </a:xfrm>
          <a:custGeom>
            <a:avLst/>
            <a:gdLst/>
            <a:ahLst/>
            <a:cxnLst/>
            <a:rect l="l" t="t" r="r" b="b"/>
            <a:pathLst>
              <a:path w="2076668" h="1276207">
                <a:moveTo>
                  <a:pt x="2076668" y="0"/>
                </a:moveTo>
                <a:lnTo>
                  <a:pt x="0" y="0"/>
                </a:lnTo>
                <a:lnTo>
                  <a:pt x="0" y="1276208"/>
                </a:lnTo>
                <a:lnTo>
                  <a:pt x="2076668" y="1276208"/>
                </a:lnTo>
                <a:lnTo>
                  <a:pt x="2076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3138681" y="-2447996"/>
            <a:ext cx="3837986" cy="4114800"/>
          </a:xfrm>
          <a:custGeom>
            <a:avLst/>
            <a:gdLst/>
            <a:ahLst/>
            <a:cxnLst/>
            <a:rect l="l" t="t" r="r" b="b"/>
            <a:pathLst>
              <a:path w="3837986" h="4114800">
                <a:moveTo>
                  <a:pt x="0" y="0"/>
                </a:moveTo>
                <a:lnTo>
                  <a:pt x="3837987" y="0"/>
                </a:lnTo>
                <a:lnTo>
                  <a:pt x="383798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994246" y="-3759204"/>
            <a:ext cx="5357753" cy="5591583"/>
          </a:xfrm>
          <a:custGeom>
            <a:avLst/>
            <a:gdLst/>
            <a:ahLst/>
            <a:cxnLst/>
            <a:rect l="l" t="t" r="r" b="b"/>
            <a:pathLst>
              <a:path w="5357753" h="5591583">
                <a:moveTo>
                  <a:pt x="0" y="0"/>
                </a:moveTo>
                <a:lnTo>
                  <a:pt x="5357752" y="0"/>
                </a:lnTo>
                <a:lnTo>
                  <a:pt x="5357752" y="5591583"/>
                </a:lnTo>
                <a:lnTo>
                  <a:pt x="0" y="559158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TextBox 7"/>
          <p:cNvSpPr txBox="1"/>
          <p:nvPr/>
        </p:nvSpPr>
        <p:spPr>
          <a:xfrm>
            <a:off x="8472115" y="2578053"/>
            <a:ext cx="1343769" cy="507075"/>
          </a:xfrm>
          <a:prstGeom prst="rect">
            <a:avLst/>
          </a:prstGeom>
        </p:spPr>
        <p:txBody>
          <a:bodyPr lIns="0" tIns="0" rIns="0" bIns="0" rtlCol="0" anchor="t">
            <a:spAutoFit/>
          </a:bodyPr>
          <a:lstStyle/>
          <a:p>
            <a:pPr algn="ctr">
              <a:lnSpc>
                <a:spcPts val="4075"/>
              </a:lnSpc>
              <a:spcBef>
                <a:spcPct val="0"/>
              </a:spcBef>
            </a:pPr>
            <a:r>
              <a:rPr lang="en-US" sz="2911">
                <a:solidFill>
                  <a:srgbClr val="000000"/>
                </a:solidFill>
                <a:latin typeface="Josefin Sans Bold"/>
              </a:rPr>
              <a:t>Bài viết</a:t>
            </a:r>
          </a:p>
        </p:txBody>
      </p:sp>
      <p:pic>
        <p:nvPicPr>
          <p:cNvPr id="8" name="Picture 7">
            <a:extLst>
              <a:ext uri="{FF2B5EF4-FFF2-40B4-BE49-F238E27FC236}">
                <a16:creationId xmlns:a16="http://schemas.microsoft.com/office/drawing/2014/main" id="{A09B8ABD-D0D2-CD4E-A8EA-7C00C999E3BF}"/>
              </a:ext>
            </a:extLst>
          </p:cNvPr>
          <p:cNvPicPr>
            <a:picLocks noChangeAspect="1"/>
          </p:cNvPicPr>
          <p:nvPr/>
        </p:nvPicPr>
        <p:blipFill>
          <a:blip r:embed="rId10"/>
          <a:stretch>
            <a:fillRect/>
          </a:stretch>
        </p:blipFill>
        <p:spPr>
          <a:xfrm>
            <a:off x="3180132" y="3821534"/>
            <a:ext cx="11927734" cy="588613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0" y="-963412"/>
            <a:ext cx="4597438" cy="2842053"/>
          </a:xfrm>
          <a:custGeom>
            <a:avLst/>
            <a:gdLst/>
            <a:ahLst/>
            <a:cxnLst/>
            <a:rect l="l" t="t" r="r" b="b"/>
            <a:pathLst>
              <a:path w="4597438" h="2842053">
                <a:moveTo>
                  <a:pt x="0" y="0"/>
                </a:moveTo>
                <a:lnTo>
                  <a:pt x="4597438" y="0"/>
                </a:lnTo>
                <a:lnTo>
                  <a:pt x="4597438" y="2842052"/>
                </a:lnTo>
                <a:lnTo>
                  <a:pt x="0" y="2842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10551837" y="390596"/>
            <a:ext cx="2076668" cy="1276207"/>
          </a:xfrm>
          <a:custGeom>
            <a:avLst/>
            <a:gdLst/>
            <a:ahLst/>
            <a:cxnLst/>
            <a:rect l="l" t="t" r="r" b="b"/>
            <a:pathLst>
              <a:path w="2076668" h="1276207">
                <a:moveTo>
                  <a:pt x="2076668" y="0"/>
                </a:moveTo>
                <a:lnTo>
                  <a:pt x="0" y="0"/>
                </a:lnTo>
                <a:lnTo>
                  <a:pt x="0" y="1276208"/>
                </a:lnTo>
                <a:lnTo>
                  <a:pt x="2076668" y="1276208"/>
                </a:lnTo>
                <a:lnTo>
                  <a:pt x="2076668"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3138681" y="-2447996"/>
            <a:ext cx="3837986" cy="4114800"/>
          </a:xfrm>
          <a:custGeom>
            <a:avLst/>
            <a:gdLst/>
            <a:ahLst/>
            <a:cxnLst/>
            <a:rect l="l" t="t" r="r" b="b"/>
            <a:pathLst>
              <a:path w="3837986" h="4114800">
                <a:moveTo>
                  <a:pt x="0" y="0"/>
                </a:moveTo>
                <a:lnTo>
                  <a:pt x="3837987" y="0"/>
                </a:lnTo>
                <a:lnTo>
                  <a:pt x="383798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4994246" y="-3759204"/>
            <a:ext cx="5357753" cy="5591583"/>
          </a:xfrm>
          <a:custGeom>
            <a:avLst/>
            <a:gdLst/>
            <a:ahLst/>
            <a:cxnLst/>
            <a:rect l="l" t="t" r="r" b="b"/>
            <a:pathLst>
              <a:path w="5357753" h="5591583">
                <a:moveTo>
                  <a:pt x="0" y="0"/>
                </a:moveTo>
                <a:lnTo>
                  <a:pt x="5357752" y="0"/>
                </a:lnTo>
                <a:lnTo>
                  <a:pt x="5357752" y="5591583"/>
                </a:lnTo>
                <a:lnTo>
                  <a:pt x="0" y="559158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TextBox 7"/>
          <p:cNvSpPr txBox="1"/>
          <p:nvPr/>
        </p:nvSpPr>
        <p:spPr>
          <a:xfrm>
            <a:off x="7444752" y="2712087"/>
            <a:ext cx="3107085" cy="507075"/>
          </a:xfrm>
          <a:prstGeom prst="rect">
            <a:avLst/>
          </a:prstGeom>
        </p:spPr>
        <p:txBody>
          <a:bodyPr lIns="0" tIns="0" rIns="0" bIns="0" rtlCol="0" anchor="t">
            <a:spAutoFit/>
          </a:bodyPr>
          <a:lstStyle/>
          <a:p>
            <a:pPr algn="ctr">
              <a:lnSpc>
                <a:spcPts val="4075"/>
              </a:lnSpc>
              <a:spcBef>
                <a:spcPct val="0"/>
              </a:spcBef>
            </a:pPr>
            <a:r>
              <a:rPr lang="en-US" sz="2911">
                <a:solidFill>
                  <a:srgbClr val="000000"/>
                </a:solidFill>
                <a:latin typeface="Josefin Sans Bold"/>
              </a:rPr>
              <a:t>Nội dung bài viết</a:t>
            </a:r>
          </a:p>
        </p:txBody>
      </p:sp>
      <p:pic>
        <p:nvPicPr>
          <p:cNvPr id="8" name="Picture 7">
            <a:extLst>
              <a:ext uri="{FF2B5EF4-FFF2-40B4-BE49-F238E27FC236}">
                <a16:creationId xmlns:a16="http://schemas.microsoft.com/office/drawing/2014/main" id="{BD4E3AE3-A6DA-8538-D43F-D84863A84232}"/>
              </a:ext>
            </a:extLst>
          </p:cNvPr>
          <p:cNvPicPr>
            <a:picLocks noChangeAspect="1"/>
          </p:cNvPicPr>
          <p:nvPr/>
        </p:nvPicPr>
        <p:blipFill>
          <a:blip r:embed="rId10"/>
          <a:stretch>
            <a:fillRect/>
          </a:stretch>
        </p:blipFill>
        <p:spPr>
          <a:xfrm>
            <a:off x="2867319" y="3669347"/>
            <a:ext cx="12553361" cy="622705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2" name="TextBox 2"/>
          <p:cNvSpPr txBox="1"/>
          <p:nvPr/>
        </p:nvSpPr>
        <p:spPr>
          <a:xfrm>
            <a:off x="731342" y="1389221"/>
            <a:ext cx="12270480" cy="7451407"/>
          </a:xfrm>
          <a:prstGeom prst="rect">
            <a:avLst/>
          </a:prstGeom>
        </p:spPr>
        <p:txBody>
          <a:bodyPr lIns="0" tIns="0" rIns="0" bIns="0" rtlCol="0" anchor="t">
            <a:spAutoFit/>
          </a:bodyPr>
          <a:lstStyle/>
          <a:p>
            <a:pPr>
              <a:lnSpc>
                <a:spcPts val="6532"/>
              </a:lnSpc>
            </a:pPr>
            <a:r>
              <a:rPr lang="en-US" sz="5025">
                <a:solidFill>
                  <a:srgbClr val="F7B4A7"/>
                </a:solidFill>
                <a:latin typeface="Josefin Sans Bold"/>
              </a:rPr>
              <a:t>"Đồ án web blog Python là một dự án ý nghĩa và có tiềm năng phát triển cao. Dự án đã mang lại nhiều lợi ích cho người dùng và giúp sinh viên rèn luyện kỹ năng lập trình web. Em sẽ cố gắng để ngày càng hoàn thiện, trau dồi kĩ năng lập trình cũng như thiết kế trở nên tốt hơn.</a:t>
            </a:r>
          </a:p>
          <a:p>
            <a:pPr>
              <a:lnSpc>
                <a:spcPts val="6532"/>
              </a:lnSpc>
            </a:pPr>
            <a:r>
              <a:rPr lang="en-US" sz="5025">
                <a:solidFill>
                  <a:srgbClr val="F7B4A7"/>
                </a:solidFill>
                <a:latin typeface="Josefin Sans Bold"/>
              </a:rPr>
              <a:t>Em xin chân thành cảm ơn!</a:t>
            </a:r>
          </a:p>
        </p:txBody>
      </p:sp>
      <p:sp>
        <p:nvSpPr>
          <p:cNvPr id="3" name="Freeform 3"/>
          <p:cNvSpPr/>
          <p:nvPr/>
        </p:nvSpPr>
        <p:spPr>
          <a:xfrm>
            <a:off x="13001822" y="1710976"/>
            <a:ext cx="3662625" cy="5642699"/>
          </a:xfrm>
          <a:custGeom>
            <a:avLst/>
            <a:gdLst/>
            <a:ahLst/>
            <a:cxnLst/>
            <a:rect l="l" t="t" r="r" b="b"/>
            <a:pathLst>
              <a:path w="3662625" h="5642699">
                <a:moveTo>
                  <a:pt x="0" y="0"/>
                </a:moveTo>
                <a:lnTo>
                  <a:pt x="3662625" y="0"/>
                </a:lnTo>
                <a:lnTo>
                  <a:pt x="3662625" y="5642699"/>
                </a:lnTo>
                <a:lnTo>
                  <a:pt x="0" y="56426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94DDDE"/>
        </a:solidFill>
        <a:effectLst/>
      </p:bgPr>
    </p:bg>
    <p:spTree>
      <p:nvGrpSpPr>
        <p:cNvPr id="1" name=""/>
        <p:cNvGrpSpPr/>
        <p:nvPr/>
      </p:nvGrpSpPr>
      <p:grpSpPr>
        <a:xfrm>
          <a:off x="0" y="0"/>
          <a:ext cx="0" cy="0"/>
          <a:chOff x="0" y="0"/>
          <a:chExt cx="0" cy="0"/>
        </a:xfrm>
      </p:grpSpPr>
      <p:sp>
        <p:nvSpPr>
          <p:cNvPr id="2" name="Freeform 2"/>
          <p:cNvSpPr/>
          <p:nvPr/>
        </p:nvSpPr>
        <p:spPr>
          <a:xfrm>
            <a:off x="9854137" y="3018272"/>
            <a:ext cx="7411325" cy="4635447"/>
          </a:xfrm>
          <a:custGeom>
            <a:avLst/>
            <a:gdLst/>
            <a:ahLst/>
            <a:cxnLst/>
            <a:rect l="l" t="t" r="r" b="b"/>
            <a:pathLst>
              <a:path w="7411325" h="4635447">
                <a:moveTo>
                  <a:pt x="0" y="0"/>
                </a:moveTo>
                <a:lnTo>
                  <a:pt x="7411325" y="0"/>
                </a:lnTo>
                <a:lnTo>
                  <a:pt x="7411325" y="4635447"/>
                </a:lnTo>
                <a:lnTo>
                  <a:pt x="0" y="46354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665100" y="8613636"/>
            <a:ext cx="4338720" cy="2713672"/>
          </a:xfrm>
          <a:custGeom>
            <a:avLst/>
            <a:gdLst/>
            <a:ahLst/>
            <a:cxnLst/>
            <a:rect l="l" t="t" r="r" b="b"/>
            <a:pathLst>
              <a:path w="4338720" h="2713672">
                <a:moveTo>
                  <a:pt x="0" y="0"/>
                </a:moveTo>
                <a:lnTo>
                  <a:pt x="4338720" y="0"/>
                </a:lnTo>
                <a:lnTo>
                  <a:pt x="4338720" y="2713671"/>
                </a:lnTo>
                <a:lnTo>
                  <a:pt x="0" y="27136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3976014" y="7483497"/>
            <a:ext cx="3289448" cy="2057400"/>
          </a:xfrm>
          <a:custGeom>
            <a:avLst/>
            <a:gdLst/>
            <a:ahLst/>
            <a:cxnLst/>
            <a:rect l="l" t="t" r="r" b="b"/>
            <a:pathLst>
              <a:path w="3289448" h="2057400">
                <a:moveTo>
                  <a:pt x="0" y="0"/>
                </a:moveTo>
                <a:lnTo>
                  <a:pt x="3289448" y="0"/>
                </a:lnTo>
                <a:lnTo>
                  <a:pt x="3289448"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3320348" y="712171"/>
            <a:ext cx="3289448" cy="2057400"/>
          </a:xfrm>
          <a:custGeom>
            <a:avLst/>
            <a:gdLst/>
            <a:ahLst/>
            <a:cxnLst/>
            <a:rect l="l" t="t" r="r" b="b"/>
            <a:pathLst>
              <a:path w="3289448" h="2057400">
                <a:moveTo>
                  <a:pt x="0" y="0"/>
                </a:moveTo>
                <a:lnTo>
                  <a:pt x="3289448" y="0"/>
                </a:lnTo>
                <a:lnTo>
                  <a:pt x="3289448"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367014" y="2893322"/>
            <a:ext cx="13114043" cy="2417984"/>
          </a:xfrm>
          <a:prstGeom prst="rect">
            <a:avLst/>
          </a:prstGeom>
        </p:spPr>
        <p:txBody>
          <a:bodyPr lIns="0" tIns="0" rIns="0" bIns="0" rtlCol="0" anchor="t">
            <a:spAutoFit/>
          </a:bodyPr>
          <a:lstStyle/>
          <a:p>
            <a:pPr algn="ctr">
              <a:lnSpc>
                <a:spcPts val="19810"/>
              </a:lnSpc>
            </a:pPr>
            <a:r>
              <a:rPr lang="en-US" sz="14150">
                <a:solidFill>
                  <a:srgbClr val="536199"/>
                </a:solidFill>
                <a:latin typeface="เอฟซี แคนดี้"/>
              </a:rPr>
              <a:t>THANK YOU!</a:t>
            </a:r>
          </a:p>
        </p:txBody>
      </p:sp>
      <p:sp>
        <p:nvSpPr>
          <p:cNvPr id="7" name="Freeform 7"/>
          <p:cNvSpPr/>
          <p:nvPr/>
        </p:nvSpPr>
        <p:spPr>
          <a:xfrm>
            <a:off x="372165" y="5736473"/>
            <a:ext cx="9635686" cy="252937"/>
          </a:xfrm>
          <a:custGeom>
            <a:avLst/>
            <a:gdLst/>
            <a:ahLst/>
            <a:cxnLst/>
            <a:rect l="l" t="t" r="r" b="b"/>
            <a:pathLst>
              <a:path w="9635686" h="252937">
                <a:moveTo>
                  <a:pt x="0" y="0"/>
                </a:moveTo>
                <a:lnTo>
                  <a:pt x="9635686" y="0"/>
                </a:lnTo>
                <a:lnTo>
                  <a:pt x="9635686" y="252937"/>
                </a:lnTo>
                <a:lnTo>
                  <a:pt x="0" y="2529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1011</Words>
  <Application>Microsoft Office PowerPoint</Application>
  <PresentationFormat>Custom</PresentationFormat>
  <Paragraphs>78</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Josefin Sans</vt:lpstr>
      <vt:lpstr>Josefin Sans Bold</vt:lpstr>
      <vt:lpstr>เอฟซี แคนดี้</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Xanh dương Các thành phần Cùng kích thước &amp; Giả lập Công nghệ trong Giáo dục Bản thuyết trình Công nghệ</dc:title>
  <cp:lastModifiedBy>Nguyễn Kai</cp:lastModifiedBy>
  <cp:revision>2</cp:revision>
  <dcterms:created xsi:type="dcterms:W3CDTF">2006-08-16T00:00:00Z</dcterms:created>
  <dcterms:modified xsi:type="dcterms:W3CDTF">2024-04-18T14:21:38Z</dcterms:modified>
  <dc:identifier>DAGCwvb43kk</dc:identifier>
</cp:coreProperties>
</file>